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0BE2AF-466A-40B4-BEE2-7CF83A0C42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53FD96F-2BA5-4762-9D06-AF55186F86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8D5CEFE-F623-46CF-9C1D-21316CD784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0531F9B-F2A0-47D3-9BEF-C873DFF184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3BD911F-5234-4031-9294-AF85AB7189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F98339A-5C96-4492-96D9-EEC481F827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217088D-7484-4C88-9D5A-0D73CA1913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2952A04-AB76-4F45-893F-678A3ADF4E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C27A30A-CEFD-44DF-9730-DC718F095D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F5BDDB7-74E3-4BDC-80EF-159B0FFA5E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98E5F9E-4455-4897-9413-601B7DD5F8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text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form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DEE6CAC-FDA7-40D5-9A01-27BF669C0EF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6CF0441-9C8F-472C-9453-EFC5B3AFC6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2F0904A-DBB4-4D04-9C39-B811BCFAD1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text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form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3DEE192-8C70-4AE5-BD21-B058631003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4ED6E5D-8819-4840-8AF5-BE46E16DC9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text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form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EBE0808-7DDB-4F1C-81E3-5A58952FB4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78EB402-1603-4E50-9605-1650CCD8E6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text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form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A2061CF-0120-4848-A3CB-7FAA05FE385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1B03320-E0F6-4944-ABDF-14C6CF769D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title text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DE18B09-F833-4FA3-8046-F7EE001E76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7949A42-AB2E-4A72-A2C8-72EAF4D481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ectangle 2"/>
          <p:cNvSpPr/>
          <p:nvPr/>
        </p:nvSpPr>
        <p:spPr>
          <a:xfrm>
            <a:off x="0" y="0"/>
            <a:ext cx="12188160" cy="7236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914400" y="1097280"/>
            <a:ext cx="10332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Safety Layers in Aligned LLMs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914400" y="2194560"/>
            <a:ext cx="10332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00c8ff"/>
                </a:solidFill>
                <a:latin typeface="Calibri"/>
              </a:rPr>
              <a:t>Replication Study on LLaMA-2-7B-Chat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Rectangle 6"/>
          <p:cNvSpPr/>
          <p:nvPr/>
        </p:nvSpPr>
        <p:spPr>
          <a:xfrm>
            <a:off x="4114800" y="2880360"/>
            <a:ext cx="3931200" cy="360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914400" y="3108960"/>
            <a:ext cx="10332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aabbcc"/>
                </a:solidFill>
                <a:latin typeface="Calibri"/>
              </a:rPr>
              <a:t>Paper: Li et al. (ICLR 2025) · arXiv 2408.17003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Box 8"/>
          <p:cNvSpPr/>
          <p:nvPr/>
        </p:nvSpPr>
        <p:spPr>
          <a:xfrm>
            <a:off x="914400" y="3657600"/>
            <a:ext cx="10332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6b35"/>
                </a:solidFill>
                <a:latin typeface="Calibri"/>
              </a:rPr>
              <a:t>Results vs. Paper Benchmarks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9"/>
          <p:cNvSpPr/>
          <p:nvPr/>
        </p:nvSpPr>
        <p:spPr>
          <a:xfrm>
            <a:off x="3200400" y="4389120"/>
            <a:ext cx="640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✦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Safety Layer Existence Verification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3200400" y="4773240"/>
            <a:ext cx="640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✦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Safety Layer Localization (Over-Rejection Analysis)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Box 11"/>
          <p:cNvSpPr/>
          <p:nvPr/>
        </p:nvSpPr>
        <p:spPr>
          <a:xfrm>
            <a:off x="3200400" y="5157360"/>
            <a:ext cx="640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✦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SPPFT vs FullFT — Table 2 &amp; Table 3 Comparison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Box 12"/>
          <p:cNvSpPr/>
          <p:nvPr/>
        </p:nvSpPr>
        <p:spPr>
          <a:xfrm>
            <a:off x="3200400" y="5541120"/>
            <a:ext cx="640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✦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Deviations from Paper Findings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1"/>
          <p:cNvSpPr/>
          <p:nvPr/>
        </p:nvSpPr>
        <p:spPr>
          <a:xfrm>
            <a:off x="0" y="822960"/>
            <a:ext cx="12188160" cy="360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457200" y="182880"/>
            <a:ext cx="9143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Paper Overview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ectangle 3"/>
          <p:cNvSpPr/>
          <p:nvPr/>
        </p:nvSpPr>
        <p:spPr>
          <a:xfrm>
            <a:off x="365760" y="1051560"/>
            <a:ext cx="54000" cy="77652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548640" y="1051560"/>
            <a:ext cx="2285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c8ff"/>
                </a:solidFill>
                <a:latin typeface="Calibri"/>
              </a:rPr>
              <a:t>Core Claim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5"/>
          <p:cNvSpPr/>
          <p:nvPr/>
        </p:nvSpPr>
        <p:spPr>
          <a:xfrm>
            <a:off x="548640" y="1398960"/>
            <a:ext cx="11154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A small set of contiguous middle layers ("safety layers") are responsible for recognising and refusing malicious queries in aligned LLMs.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 6"/>
          <p:cNvSpPr/>
          <p:nvPr/>
        </p:nvSpPr>
        <p:spPr>
          <a:xfrm>
            <a:off x="365760" y="2103120"/>
            <a:ext cx="54000" cy="77652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7"/>
          <p:cNvSpPr/>
          <p:nvPr/>
        </p:nvSpPr>
        <p:spPr>
          <a:xfrm>
            <a:off x="548640" y="2103120"/>
            <a:ext cx="2285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c8ff"/>
                </a:solidFill>
                <a:latin typeface="Calibri"/>
              </a:rPr>
              <a:t>Existence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8"/>
          <p:cNvSpPr/>
          <p:nvPr/>
        </p:nvSpPr>
        <p:spPr>
          <a:xfrm>
            <a:off x="548640" y="2450520"/>
            <a:ext cx="111549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Cosine similarity between hidden-layer vectors of normal vs malicious queries diverges starting at a specific layer — confirmed as safety layers.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ectangle 9"/>
          <p:cNvSpPr/>
          <p:nvPr/>
        </p:nvSpPr>
        <p:spPr>
          <a:xfrm>
            <a:off x="365760" y="3154680"/>
            <a:ext cx="54000" cy="77652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548640" y="3154680"/>
            <a:ext cx="2285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c8ff"/>
                </a:solidFill>
                <a:latin typeface="Calibri"/>
              </a:rPr>
              <a:t>Localisation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11"/>
          <p:cNvSpPr/>
          <p:nvPr/>
        </p:nvSpPr>
        <p:spPr>
          <a:xfrm>
            <a:off x="548640" y="3502080"/>
            <a:ext cx="11154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Over-rejection phenomenon (amplifying layer weights → model refuses benign queries) used to pin exact layer range [i, j].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ectangle 12"/>
          <p:cNvSpPr/>
          <p:nvPr/>
        </p:nvSpPr>
        <p:spPr>
          <a:xfrm>
            <a:off x="365760" y="4206240"/>
            <a:ext cx="54000" cy="77652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13"/>
          <p:cNvSpPr/>
          <p:nvPr/>
        </p:nvSpPr>
        <p:spPr>
          <a:xfrm>
            <a:off x="548640" y="4206240"/>
            <a:ext cx="2285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c8ff"/>
                </a:solidFill>
                <a:latin typeface="Calibri"/>
              </a:rPr>
              <a:t>SPPFT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14"/>
          <p:cNvSpPr/>
          <p:nvPr/>
        </p:nvSpPr>
        <p:spPr>
          <a:xfrm>
            <a:off x="548640" y="4553640"/>
            <a:ext cx="11154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Safely Partial-Parameter Fine-Tuning: freeze safety layers during fine-tuning → preserve security while retaining task performance.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 15"/>
          <p:cNvSpPr/>
          <p:nvPr/>
        </p:nvSpPr>
        <p:spPr>
          <a:xfrm>
            <a:off x="365760" y="5257800"/>
            <a:ext cx="54000" cy="77652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16"/>
          <p:cNvSpPr/>
          <p:nvPr/>
        </p:nvSpPr>
        <p:spPr>
          <a:xfrm>
            <a:off x="548640" y="5257800"/>
            <a:ext cx="2285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c8ff"/>
                </a:solidFill>
                <a:latin typeface="Calibri"/>
              </a:rPr>
              <a:t>Models Tested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17"/>
          <p:cNvSpPr/>
          <p:nvPr/>
        </p:nvSpPr>
        <p:spPr>
          <a:xfrm>
            <a:off x="548640" y="5605200"/>
            <a:ext cx="11154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LLaMA-3-8B-Instruct · LLaMA-2-7B-Chat · Gemma-2B-IT · Phi-3-Mini-4K-Instruct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822960"/>
            <a:ext cx="12188160" cy="360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365760" y="164520"/>
            <a:ext cx="10972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Safety Layer Existence — Cosine Similarity Analysis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" name="Picture 3" descr="existence.png"/>
          <p:cNvPicPr/>
          <p:nvPr/>
        </p:nvPicPr>
        <p:blipFill>
          <a:blip r:embed="rId1"/>
          <a:stretch/>
        </p:blipFill>
        <p:spPr>
          <a:xfrm>
            <a:off x="274320" y="960120"/>
            <a:ext cx="5394240" cy="411408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4" descr="att_score1.png"/>
          <p:cNvPicPr/>
          <p:nvPr/>
        </p:nvPicPr>
        <p:blipFill>
          <a:blip r:embed="rId2"/>
          <a:stretch/>
        </p:blipFill>
        <p:spPr>
          <a:xfrm>
            <a:off x="5943600" y="960120"/>
            <a:ext cx="5942880" cy="4114080"/>
          </a:xfrm>
          <a:prstGeom prst="rect">
            <a:avLst/>
          </a:prstGeom>
          <a:ln w="0">
            <a:noFill/>
          </a:ln>
        </p:spPr>
      </p:pic>
      <p:sp>
        <p:nvSpPr>
          <p:cNvPr id="83" name="TextBox 5"/>
          <p:cNvSpPr/>
          <p:nvPr/>
        </p:nvSpPr>
        <p:spPr>
          <a:xfrm>
            <a:off x="274320" y="5166360"/>
            <a:ext cx="5394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c8ff"/>
                </a:solidFill>
                <a:latin typeface="Calibri"/>
              </a:rPr>
              <a:t>Existence: Cosine-similarity gap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5943600" y="5166360"/>
            <a:ext cx="59428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c8ff"/>
                </a:solidFill>
                <a:latin typeface="Calibri"/>
              </a:rPr>
              <a:t>Attention Score Analysis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365760" y="5669280"/>
            <a:ext cx="114292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0e696"/>
                </a:solidFill>
                <a:latin typeface="Calibri"/>
              </a:rPr>
              <a:t>✔ </a:t>
            </a:r>
            <a:r>
              <a:rPr b="0" lang="en-US" sz="1300" spc="-1" strike="noStrike">
                <a:solidFill>
                  <a:srgbClr val="00e696"/>
                </a:solidFill>
                <a:latin typeface="Calibri"/>
              </a:rPr>
              <a:t>Confirmed: A clear divergence in cosine similarity emerges at specific middle layers of LLaMA-2-7B-Chat, consistent with the paper's finding that safety layers form a contiguous cluster in the model's mid-section.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822960"/>
            <a:ext cx="12188160" cy="360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365760" y="164520"/>
            <a:ext cx="10972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Safety Layer Localisation — Over-Rejection Metric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" name="Picture 3" descr="angular_gap.png"/>
          <p:cNvPicPr/>
          <p:nvPr/>
        </p:nvPicPr>
        <p:blipFill>
          <a:blip r:embed="rId1"/>
          <a:stretch/>
        </p:blipFill>
        <p:spPr>
          <a:xfrm>
            <a:off x="274320" y="960120"/>
            <a:ext cx="5485680" cy="3839760"/>
          </a:xfrm>
          <a:prstGeom prst="rect">
            <a:avLst/>
          </a:prstGeom>
          <a:ln w="0">
            <a:noFill/>
          </a:ln>
        </p:spPr>
      </p:pic>
      <p:sp>
        <p:nvSpPr>
          <p:cNvPr id="89" name="TextBox 4"/>
          <p:cNvSpPr/>
          <p:nvPr/>
        </p:nvSpPr>
        <p:spPr>
          <a:xfrm>
            <a:off x="274320" y="4892040"/>
            <a:ext cx="5485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c8ff"/>
                </a:solidFill>
                <a:latin typeface="Calibri"/>
              </a:rPr>
              <a:t>Angular Gap Analysis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ectangle 5"/>
          <p:cNvSpPr/>
          <p:nvPr/>
        </p:nvSpPr>
        <p:spPr>
          <a:xfrm>
            <a:off x="6217920" y="960120"/>
            <a:ext cx="2285280" cy="34668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6"/>
          <p:cNvSpPr/>
          <p:nvPr/>
        </p:nvSpPr>
        <p:spPr>
          <a:xfrm>
            <a:off x="6291000" y="100584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Layer Range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ectangle 7"/>
          <p:cNvSpPr/>
          <p:nvPr/>
        </p:nvSpPr>
        <p:spPr>
          <a:xfrm>
            <a:off x="8503920" y="960120"/>
            <a:ext cx="2285280" cy="34668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8"/>
          <p:cNvSpPr/>
          <p:nvPr/>
        </p:nvSpPr>
        <p:spPr>
          <a:xfrm>
            <a:off x="8577000" y="100584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Over-Rejection (#)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ctangle 9"/>
          <p:cNvSpPr/>
          <p:nvPr/>
        </p:nvSpPr>
        <p:spPr>
          <a:xfrm>
            <a:off x="6217920" y="1307520"/>
            <a:ext cx="2285280" cy="34668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6291000" y="135324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[9, 12]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ectangle 11"/>
          <p:cNvSpPr/>
          <p:nvPr/>
        </p:nvSpPr>
        <p:spPr>
          <a:xfrm>
            <a:off x="8503920" y="1307520"/>
            <a:ext cx="2285280" cy="34668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12"/>
          <p:cNvSpPr/>
          <p:nvPr/>
        </p:nvSpPr>
        <p:spPr>
          <a:xfrm>
            <a:off x="8577000" y="135324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187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ectangle 13"/>
          <p:cNvSpPr/>
          <p:nvPr/>
        </p:nvSpPr>
        <p:spPr>
          <a:xfrm>
            <a:off x="6217920" y="1654920"/>
            <a:ext cx="2285280" cy="34668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14"/>
          <p:cNvSpPr/>
          <p:nvPr/>
        </p:nvSpPr>
        <p:spPr>
          <a:xfrm>
            <a:off x="6291000" y="170064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[9, 13]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Rectangle 15"/>
          <p:cNvSpPr/>
          <p:nvPr/>
        </p:nvSpPr>
        <p:spPr>
          <a:xfrm>
            <a:off x="8503920" y="1654920"/>
            <a:ext cx="2285280" cy="34668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16"/>
          <p:cNvSpPr/>
          <p:nvPr/>
        </p:nvSpPr>
        <p:spPr>
          <a:xfrm>
            <a:off x="8577000" y="170064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222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ectangle 17"/>
          <p:cNvSpPr/>
          <p:nvPr/>
        </p:nvSpPr>
        <p:spPr>
          <a:xfrm>
            <a:off x="6217920" y="2002680"/>
            <a:ext cx="2285280" cy="34668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18"/>
          <p:cNvSpPr/>
          <p:nvPr/>
        </p:nvSpPr>
        <p:spPr>
          <a:xfrm>
            <a:off x="6291000" y="204840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[9, 14]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Rectangle 19"/>
          <p:cNvSpPr/>
          <p:nvPr/>
        </p:nvSpPr>
        <p:spPr>
          <a:xfrm>
            <a:off x="8503920" y="2002680"/>
            <a:ext cx="2285280" cy="34668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0"/>
          <p:cNvSpPr/>
          <p:nvPr/>
        </p:nvSpPr>
        <p:spPr>
          <a:xfrm>
            <a:off x="8577000" y="204840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d600"/>
                </a:solidFill>
                <a:latin typeface="Calibri"/>
              </a:rPr>
              <a:t>237  ← Peak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 21"/>
          <p:cNvSpPr/>
          <p:nvPr/>
        </p:nvSpPr>
        <p:spPr>
          <a:xfrm>
            <a:off x="6217920" y="2350080"/>
            <a:ext cx="2285280" cy="34668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22"/>
          <p:cNvSpPr/>
          <p:nvPr/>
        </p:nvSpPr>
        <p:spPr>
          <a:xfrm>
            <a:off x="6291000" y="239580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[9, 15]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 23"/>
          <p:cNvSpPr/>
          <p:nvPr/>
        </p:nvSpPr>
        <p:spPr>
          <a:xfrm>
            <a:off x="8503920" y="2350080"/>
            <a:ext cx="2285280" cy="34668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24"/>
          <p:cNvSpPr/>
          <p:nvPr/>
        </p:nvSpPr>
        <p:spPr>
          <a:xfrm>
            <a:off x="8577000" y="239580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213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Rectangle 25"/>
          <p:cNvSpPr/>
          <p:nvPr/>
        </p:nvSpPr>
        <p:spPr>
          <a:xfrm>
            <a:off x="6217920" y="2697480"/>
            <a:ext cx="2285280" cy="34668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26"/>
          <p:cNvSpPr/>
          <p:nvPr/>
        </p:nvSpPr>
        <p:spPr>
          <a:xfrm>
            <a:off x="6291000" y="274320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[9, 16]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ectangle 27"/>
          <p:cNvSpPr/>
          <p:nvPr/>
        </p:nvSpPr>
        <p:spPr>
          <a:xfrm>
            <a:off x="8503920" y="2697480"/>
            <a:ext cx="2285280" cy="34668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8"/>
          <p:cNvSpPr/>
          <p:nvPr/>
        </p:nvSpPr>
        <p:spPr>
          <a:xfrm>
            <a:off x="8577000" y="274320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219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Rectangle 29"/>
          <p:cNvSpPr/>
          <p:nvPr/>
        </p:nvSpPr>
        <p:spPr>
          <a:xfrm>
            <a:off x="6217920" y="3044880"/>
            <a:ext cx="2285280" cy="34668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30"/>
          <p:cNvSpPr/>
          <p:nvPr/>
        </p:nvSpPr>
        <p:spPr>
          <a:xfrm>
            <a:off x="6291000" y="309060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[8, 14]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ectangle 31"/>
          <p:cNvSpPr/>
          <p:nvPr/>
        </p:nvSpPr>
        <p:spPr>
          <a:xfrm>
            <a:off x="8503920" y="3044880"/>
            <a:ext cx="2285280" cy="34668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32"/>
          <p:cNvSpPr/>
          <p:nvPr/>
        </p:nvSpPr>
        <p:spPr>
          <a:xfrm>
            <a:off x="8577000" y="309060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263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Rectangle 33"/>
          <p:cNvSpPr/>
          <p:nvPr/>
        </p:nvSpPr>
        <p:spPr>
          <a:xfrm>
            <a:off x="6217920" y="3392280"/>
            <a:ext cx="2285280" cy="34668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34"/>
          <p:cNvSpPr/>
          <p:nvPr/>
        </p:nvSpPr>
        <p:spPr>
          <a:xfrm>
            <a:off x="6291000" y="343800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[7, 14]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Rectangle 35"/>
          <p:cNvSpPr/>
          <p:nvPr/>
        </p:nvSpPr>
        <p:spPr>
          <a:xfrm>
            <a:off x="8503920" y="3392280"/>
            <a:ext cx="2285280" cy="34668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Noto Sans CJK SC"/>
              </a:rPr>
              <a:t>268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36"/>
          <p:cNvSpPr/>
          <p:nvPr/>
        </p:nvSpPr>
        <p:spPr>
          <a:xfrm>
            <a:off x="8577000" y="3438000"/>
            <a:ext cx="2193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ectangle 37"/>
          <p:cNvSpPr/>
          <p:nvPr/>
        </p:nvSpPr>
        <p:spPr>
          <a:xfrm>
            <a:off x="6217920" y="3740040"/>
            <a:ext cx="2285280" cy="34668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38"/>
          <p:cNvSpPr/>
          <p:nvPr/>
        </p:nvSpPr>
        <p:spPr>
          <a:xfrm>
            <a:off x="6291000" y="378576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[6, 14]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Rectangle 39"/>
          <p:cNvSpPr/>
          <p:nvPr/>
        </p:nvSpPr>
        <p:spPr>
          <a:xfrm>
            <a:off x="8503920" y="3740040"/>
            <a:ext cx="2285280" cy="34668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40"/>
          <p:cNvSpPr/>
          <p:nvPr/>
        </p:nvSpPr>
        <p:spPr>
          <a:xfrm>
            <a:off x="8577000" y="378576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d600"/>
                </a:solidFill>
                <a:latin typeface="Calibri"/>
              </a:rPr>
              <a:t>287  ← Max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ectangle 41"/>
          <p:cNvSpPr/>
          <p:nvPr/>
        </p:nvSpPr>
        <p:spPr>
          <a:xfrm>
            <a:off x="6217920" y="4087440"/>
            <a:ext cx="2285280" cy="34668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42"/>
          <p:cNvSpPr/>
          <p:nvPr/>
        </p:nvSpPr>
        <p:spPr>
          <a:xfrm>
            <a:off x="6291000" y="413316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[5, 14]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ectangle 43"/>
          <p:cNvSpPr/>
          <p:nvPr/>
        </p:nvSpPr>
        <p:spPr>
          <a:xfrm>
            <a:off x="8503920" y="4087440"/>
            <a:ext cx="2285280" cy="34668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44"/>
          <p:cNvSpPr/>
          <p:nvPr/>
        </p:nvSpPr>
        <p:spPr>
          <a:xfrm>
            <a:off x="8577000" y="413316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189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ectangle 45"/>
          <p:cNvSpPr/>
          <p:nvPr/>
        </p:nvSpPr>
        <p:spPr>
          <a:xfrm>
            <a:off x="6217920" y="4434840"/>
            <a:ext cx="2285280" cy="34668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46"/>
          <p:cNvSpPr/>
          <p:nvPr/>
        </p:nvSpPr>
        <p:spPr>
          <a:xfrm>
            <a:off x="6291000" y="448056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[4, 14]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 47"/>
          <p:cNvSpPr/>
          <p:nvPr/>
        </p:nvSpPr>
        <p:spPr>
          <a:xfrm>
            <a:off x="8503920" y="4434840"/>
            <a:ext cx="2285280" cy="34668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48"/>
          <p:cNvSpPr/>
          <p:nvPr/>
        </p:nvSpPr>
        <p:spPr>
          <a:xfrm>
            <a:off x="8577000" y="4480560"/>
            <a:ext cx="219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202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49"/>
          <p:cNvSpPr/>
          <p:nvPr/>
        </p:nvSpPr>
        <p:spPr>
          <a:xfrm>
            <a:off x="6172560" y="4969800"/>
            <a:ext cx="5485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e696"/>
                </a:solidFill>
                <a:latin typeface="Calibri"/>
              </a:rPr>
              <a:t>Optimal safety layer range: [7, 14] → Max over-rejection = 287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Box 50"/>
          <p:cNvSpPr/>
          <p:nvPr/>
        </p:nvSpPr>
        <p:spPr>
          <a:xfrm>
            <a:off x="6217920" y="5305320"/>
            <a:ext cx="548568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822960"/>
            <a:ext cx="12188160" cy="360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365760" y="164520"/>
            <a:ext cx="11429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Table 2 — SPPFT vs FullFT Results (LLaMA-2-7B-Chat)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274320" y="960120"/>
            <a:ext cx="1142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Normal Dataset (Dₙ)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274320" y="1342440"/>
            <a:ext cx="1142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aabbcc"/>
                </a:solidFill>
                <a:latin typeface="Calibri"/>
              </a:rPr>
              <a:t>Initial Rh=1.35%, Sh=1.03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0" name="Group 1"/>
          <p:cNvGrpSpPr/>
          <p:nvPr/>
        </p:nvGrpSpPr>
        <p:grpSpPr>
          <a:xfrm>
            <a:off x="97200" y="2027880"/>
            <a:ext cx="12090960" cy="2269080"/>
            <a:chOff x="97200" y="2027880"/>
            <a:chExt cx="12090960" cy="2269080"/>
          </a:xfrm>
        </p:grpSpPr>
        <p:sp>
          <p:nvSpPr>
            <p:cNvPr id="141" name="Rectangle 5"/>
            <p:cNvSpPr/>
            <p:nvPr/>
          </p:nvSpPr>
          <p:spPr>
            <a:xfrm>
              <a:off x="97200" y="20278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42" name="TextBox 6"/>
            <p:cNvSpPr/>
            <p:nvPr/>
          </p:nvSpPr>
          <p:spPr>
            <a:xfrm>
              <a:off x="150480" y="2073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Metric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" name="Rectangle 7"/>
            <p:cNvSpPr/>
            <p:nvPr/>
          </p:nvSpPr>
          <p:spPr>
            <a:xfrm>
              <a:off x="1824840" y="20278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44" name="TextBox 8"/>
            <p:cNvSpPr/>
            <p:nvPr/>
          </p:nvSpPr>
          <p:spPr>
            <a:xfrm>
              <a:off x="1877760" y="2073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Paper SPPFT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" name="Rectangle 9"/>
            <p:cNvSpPr/>
            <p:nvPr/>
          </p:nvSpPr>
          <p:spPr>
            <a:xfrm>
              <a:off x="3552120" y="20278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46" name="TextBox 10"/>
            <p:cNvSpPr/>
            <p:nvPr/>
          </p:nvSpPr>
          <p:spPr>
            <a:xfrm>
              <a:off x="3605040" y="2073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Ours SPPFT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" name="Rectangle 11"/>
            <p:cNvSpPr/>
            <p:nvPr/>
          </p:nvSpPr>
          <p:spPr>
            <a:xfrm>
              <a:off x="5279400" y="20278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48" name="TextBox 12"/>
            <p:cNvSpPr/>
            <p:nvPr/>
          </p:nvSpPr>
          <p:spPr>
            <a:xfrm>
              <a:off x="5332320" y="2073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Δ SPPFT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Rectangle 13"/>
            <p:cNvSpPr/>
            <p:nvPr/>
          </p:nvSpPr>
          <p:spPr>
            <a:xfrm>
              <a:off x="7006680" y="20278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50" name="TextBox 14"/>
            <p:cNvSpPr/>
            <p:nvPr/>
          </p:nvSpPr>
          <p:spPr>
            <a:xfrm>
              <a:off x="7059960" y="2073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Paper FullFT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" name="Rectangle 15"/>
            <p:cNvSpPr/>
            <p:nvPr/>
          </p:nvSpPr>
          <p:spPr>
            <a:xfrm>
              <a:off x="8734320" y="20278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52" name="TextBox 16"/>
            <p:cNvSpPr/>
            <p:nvPr/>
          </p:nvSpPr>
          <p:spPr>
            <a:xfrm>
              <a:off x="8787240" y="2073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Ours FullFT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Rectangle 17"/>
            <p:cNvSpPr/>
            <p:nvPr/>
          </p:nvSpPr>
          <p:spPr>
            <a:xfrm>
              <a:off x="10461600" y="20278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54" name="TextBox 18"/>
            <p:cNvSpPr/>
            <p:nvPr/>
          </p:nvSpPr>
          <p:spPr>
            <a:xfrm>
              <a:off x="10514520" y="2073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Δ FullFT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" name="Rectangle 19"/>
            <p:cNvSpPr/>
            <p:nvPr/>
          </p:nvSpPr>
          <p:spPr>
            <a:xfrm>
              <a:off x="97200" y="24120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56" name="TextBox 20"/>
            <p:cNvSpPr/>
            <p:nvPr/>
          </p:nvSpPr>
          <p:spPr>
            <a:xfrm>
              <a:off x="150480" y="2457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Harmful Rate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" name="Rectangle 21"/>
            <p:cNvSpPr/>
            <p:nvPr/>
          </p:nvSpPr>
          <p:spPr>
            <a:xfrm>
              <a:off x="1824840" y="24120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58" name="TextBox 22"/>
            <p:cNvSpPr/>
            <p:nvPr/>
          </p:nvSpPr>
          <p:spPr>
            <a:xfrm>
              <a:off x="1877760" y="2457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2.88%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" name="Rectangle 23"/>
            <p:cNvSpPr/>
            <p:nvPr/>
          </p:nvSpPr>
          <p:spPr>
            <a:xfrm>
              <a:off x="3552120" y="24120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60" name="TextBox 24"/>
            <p:cNvSpPr/>
            <p:nvPr/>
          </p:nvSpPr>
          <p:spPr>
            <a:xfrm>
              <a:off x="3605040" y="2457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2.8%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" name="Rectangle 25"/>
            <p:cNvSpPr/>
            <p:nvPr/>
          </p:nvSpPr>
          <p:spPr>
            <a:xfrm>
              <a:off x="5279400" y="24120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62" name="TextBox 26"/>
            <p:cNvSpPr/>
            <p:nvPr/>
          </p:nvSpPr>
          <p:spPr>
            <a:xfrm>
              <a:off x="5332320" y="2457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0e696"/>
                  </a:solidFill>
                  <a:latin typeface="Calibri"/>
                </a:rPr>
                <a:t>▼ </a:t>
              </a:r>
              <a:r>
                <a:rPr b="1" lang="en-US" sz="1200" spc="-1" strike="noStrike">
                  <a:solidFill>
                    <a:srgbClr val="00e696"/>
                  </a:solidFill>
                  <a:latin typeface="Calibri"/>
                </a:rPr>
                <a:t>0.08%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" name="Rectangle 27"/>
            <p:cNvSpPr/>
            <p:nvPr/>
          </p:nvSpPr>
          <p:spPr>
            <a:xfrm>
              <a:off x="7006680" y="24120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64" name="TextBox 28"/>
            <p:cNvSpPr/>
            <p:nvPr/>
          </p:nvSpPr>
          <p:spPr>
            <a:xfrm>
              <a:off x="7059960" y="2457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10.58%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" name="Rectangle 29"/>
            <p:cNvSpPr/>
            <p:nvPr/>
          </p:nvSpPr>
          <p:spPr>
            <a:xfrm>
              <a:off x="8734320" y="24120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66" name="TextBox 30"/>
            <p:cNvSpPr/>
            <p:nvPr/>
          </p:nvSpPr>
          <p:spPr>
            <a:xfrm>
              <a:off x="8787240" y="2457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10.5%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" name="Rectangle 31"/>
            <p:cNvSpPr/>
            <p:nvPr/>
          </p:nvSpPr>
          <p:spPr>
            <a:xfrm>
              <a:off x="10461600" y="24120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68" name="TextBox 32"/>
            <p:cNvSpPr/>
            <p:nvPr/>
          </p:nvSpPr>
          <p:spPr>
            <a:xfrm>
              <a:off x="10514520" y="2457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0e696"/>
                  </a:solidFill>
                  <a:latin typeface="Calibri"/>
                </a:rPr>
                <a:t>▼ </a:t>
              </a:r>
              <a:r>
                <a:rPr b="1" lang="en-US" sz="1200" spc="-1" strike="noStrike">
                  <a:solidFill>
                    <a:srgbClr val="00e696"/>
                  </a:solidFill>
                  <a:latin typeface="Calibri"/>
                </a:rPr>
                <a:t>0.08%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" name="Rectangle 33"/>
            <p:cNvSpPr/>
            <p:nvPr/>
          </p:nvSpPr>
          <p:spPr>
            <a:xfrm>
              <a:off x="97200" y="27961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70" name="TextBox 34"/>
            <p:cNvSpPr/>
            <p:nvPr/>
          </p:nvSpPr>
          <p:spPr>
            <a:xfrm>
              <a:off x="150480" y="28418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Harmful Score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" name="Rectangle 35"/>
            <p:cNvSpPr/>
            <p:nvPr/>
          </p:nvSpPr>
          <p:spPr>
            <a:xfrm>
              <a:off x="1824840" y="27961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72" name="TextBox 36"/>
            <p:cNvSpPr/>
            <p:nvPr/>
          </p:nvSpPr>
          <p:spPr>
            <a:xfrm>
              <a:off x="1877760" y="28418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1.06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Rectangle 37"/>
            <p:cNvSpPr/>
            <p:nvPr/>
          </p:nvSpPr>
          <p:spPr>
            <a:xfrm>
              <a:off x="3552120" y="27961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74" name="TextBox 38"/>
            <p:cNvSpPr/>
            <p:nvPr/>
          </p:nvSpPr>
          <p:spPr>
            <a:xfrm>
              <a:off x="3605040" y="28418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1.063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Rectangle 39"/>
            <p:cNvSpPr/>
            <p:nvPr/>
          </p:nvSpPr>
          <p:spPr>
            <a:xfrm>
              <a:off x="5279400" y="27961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76" name="TextBox 40"/>
            <p:cNvSpPr/>
            <p:nvPr/>
          </p:nvSpPr>
          <p:spPr>
            <a:xfrm>
              <a:off x="5332320" y="28418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4d6d"/>
                  </a:solidFill>
                  <a:latin typeface="Calibri"/>
                </a:rPr>
                <a:t>▲ </a:t>
              </a:r>
              <a:r>
                <a:rPr b="1" lang="en-US" sz="1200" spc="-1" strike="noStrike">
                  <a:solidFill>
                    <a:srgbClr val="ff4d6d"/>
                  </a:solidFill>
                  <a:latin typeface="Calibri"/>
                </a:rPr>
                <a:t>0.003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7" name="Rectangle 41"/>
            <p:cNvSpPr/>
            <p:nvPr/>
          </p:nvSpPr>
          <p:spPr>
            <a:xfrm>
              <a:off x="7006680" y="27961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78" name="TextBox 42"/>
            <p:cNvSpPr/>
            <p:nvPr/>
          </p:nvSpPr>
          <p:spPr>
            <a:xfrm>
              <a:off x="7059960" y="28418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1.38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9" name="Rectangle 43"/>
            <p:cNvSpPr/>
            <p:nvPr/>
          </p:nvSpPr>
          <p:spPr>
            <a:xfrm>
              <a:off x="8734320" y="27961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80" name="TextBox 44"/>
            <p:cNvSpPr/>
            <p:nvPr/>
          </p:nvSpPr>
          <p:spPr>
            <a:xfrm>
              <a:off x="8787240" y="28418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1.382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" name="Rectangle 45"/>
            <p:cNvSpPr/>
            <p:nvPr/>
          </p:nvSpPr>
          <p:spPr>
            <a:xfrm>
              <a:off x="10461600" y="27961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82" name="TextBox 46"/>
            <p:cNvSpPr/>
            <p:nvPr/>
          </p:nvSpPr>
          <p:spPr>
            <a:xfrm>
              <a:off x="10514520" y="28418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4d6d"/>
                  </a:solidFill>
                  <a:latin typeface="Calibri"/>
                </a:rPr>
                <a:t>▲ </a:t>
              </a:r>
              <a:r>
                <a:rPr b="1" lang="en-US" sz="1200" spc="-1" strike="noStrike">
                  <a:solidFill>
                    <a:srgbClr val="ff4d6d"/>
                  </a:solidFill>
                  <a:latin typeface="Calibri"/>
                </a:rPr>
                <a:t>0.002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" name="Rectangle 47"/>
            <p:cNvSpPr/>
            <p:nvPr/>
          </p:nvSpPr>
          <p:spPr>
            <a:xfrm>
              <a:off x="97200" y="31798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84" name="TextBox 48"/>
            <p:cNvSpPr/>
            <p:nvPr/>
          </p:nvSpPr>
          <p:spPr>
            <a:xfrm>
              <a:off x="150480" y="3225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Rouge-L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" name="Rectangle 49"/>
            <p:cNvSpPr/>
            <p:nvPr/>
          </p:nvSpPr>
          <p:spPr>
            <a:xfrm>
              <a:off x="1824840" y="31798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86" name="TextBox 50"/>
            <p:cNvSpPr/>
            <p:nvPr/>
          </p:nvSpPr>
          <p:spPr>
            <a:xfrm>
              <a:off x="1877760" y="3225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0.248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" name="Rectangle 51"/>
            <p:cNvSpPr/>
            <p:nvPr/>
          </p:nvSpPr>
          <p:spPr>
            <a:xfrm>
              <a:off x="3552120" y="31798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88" name="TextBox 52"/>
            <p:cNvSpPr/>
            <p:nvPr/>
          </p:nvSpPr>
          <p:spPr>
            <a:xfrm>
              <a:off x="3605040" y="3225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0.248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" name="Rectangle 53"/>
            <p:cNvSpPr/>
            <p:nvPr/>
          </p:nvSpPr>
          <p:spPr>
            <a:xfrm>
              <a:off x="5279400" y="31798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90" name="TextBox 54"/>
            <p:cNvSpPr/>
            <p:nvPr/>
          </p:nvSpPr>
          <p:spPr>
            <a:xfrm>
              <a:off x="5332320" y="3225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= 0.000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" name="Rectangle 55"/>
            <p:cNvSpPr/>
            <p:nvPr/>
          </p:nvSpPr>
          <p:spPr>
            <a:xfrm>
              <a:off x="7006680" y="31798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92" name="TextBox 56"/>
            <p:cNvSpPr/>
            <p:nvPr/>
          </p:nvSpPr>
          <p:spPr>
            <a:xfrm>
              <a:off x="7059960" y="3225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0.270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" name="Rectangle 57"/>
            <p:cNvSpPr/>
            <p:nvPr/>
          </p:nvSpPr>
          <p:spPr>
            <a:xfrm>
              <a:off x="8734320" y="31798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94" name="TextBox 58"/>
            <p:cNvSpPr/>
            <p:nvPr/>
          </p:nvSpPr>
          <p:spPr>
            <a:xfrm>
              <a:off x="8787240" y="3225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0.270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5" name="Rectangle 59"/>
            <p:cNvSpPr/>
            <p:nvPr/>
          </p:nvSpPr>
          <p:spPr>
            <a:xfrm>
              <a:off x="10461600" y="31798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96" name="TextBox 60"/>
            <p:cNvSpPr/>
            <p:nvPr/>
          </p:nvSpPr>
          <p:spPr>
            <a:xfrm>
              <a:off x="10514520" y="32256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= 0.000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" name="Rectangle 61"/>
            <p:cNvSpPr/>
            <p:nvPr/>
          </p:nvSpPr>
          <p:spPr>
            <a:xfrm>
              <a:off x="97200" y="35640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98" name="TextBox 62"/>
            <p:cNvSpPr/>
            <p:nvPr/>
          </p:nvSpPr>
          <p:spPr>
            <a:xfrm>
              <a:off x="150480" y="3609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MMLU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" name="Rectangle 63"/>
            <p:cNvSpPr/>
            <p:nvPr/>
          </p:nvSpPr>
          <p:spPr>
            <a:xfrm>
              <a:off x="1824840" y="35640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00" name="TextBox 64"/>
            <p:cNvSpPr/>
            <p:nvPr/>
          </p:nvSpPr>
          <p:spPr>
            <a:xfrm>
              <a:off x="1877760" y="3609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0.470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" name="Rectangle 65"/>
            <p:cNvSpPr/>
            <p:nvPr/>
          </p:nvSpPr>
          <p:spPr>
            <a:xfrm>
              <a:off x="3552120" y="35640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02" name="TextBox 66"/>
            <p:cNvSpPr/>
            <p:nvPr/>
          </p:nvSpPr>
          <p:spPr>
            <a:xfrm>
              <a:off x="3605040" y="3609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0.470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" name="Rectangle 67"/>
            <p:cNvSpPr/>
            <p:nvPr/>
          </p:nvSpPr>
          <p:spPr>
            <a:xfrm>
              <a:off x="5279400" y="35640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04" name="TextBox 68"/>
            <p:cNvSpPr/>
            <p:nvPr/>
          </p:nvSpPr>
          <p:spPr>
            <a:xfrm>
              <a:off x="5332320" y="3609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= 0.000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" name="Rectangle 69"/>
            <p:cNvSpPr/>
            <p:nvPr/>
          </p:nvSpPr>
          <p:spPr>
            <a:xfrm>
              <a:off x="7006680" y="35640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06" name="TextBox 70"/>
            <p:cNvSpPr/>
            <p:nvPr/>
          </p:nvSpPr>
          <p:spPr>
            <a:xfrm>
              <a:off x="7059960" y="3609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0.458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" name="Rectangle 71"/>
            <p:cNvSpPr/>
            <p:nvPr/>
          </p:nvSpPr>
          <p:spPr>
            <a:xfrm>
              <a:off x="8734320" y="35640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08" name="TextBox 72"/>
            <p:cNvSpPr/>
            <p:nvPr/>
          </p:nvSpPr>
          <p:spPr>
            <a:xfrm>
              <a:off x="8787240" y="3609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0.453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" name="Rectangle 73"/>
            <p:cNvSpPr/>
            <p:nvPr/>
          </p:nvSpPr>
          <p:spPr>
            <a:xfrm>
              <a:off x="10461600" y="35640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10" name="TextBox 74"/>
            <p:cNvSpPr/>
            <p:nvPr/>
          </p:nvSpPr>
          <p:spPr>
            <a:xfrm>
              <a:off x="10514520" y="36097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0e696"/>
                  </a:solidFill>
                  <a:latin typeface="Calibri"/>
                </a:rPr>
                <a:t>▼ </a:t>
              </a:r>
              <a:r>
                <a:rPr b="1" lang="en-US" sz="1200" spc="-1" strike="noStrike">
                  <a:solidFill>
                    <a:srgbClr val="00e696"/>
                  </a:solidFill>
                  <a:latin typeface="Calibri"/>
                </a:rPr>
                <a:t>0.005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1" name="TextBox 75"/>
            <p:cNvSpPr/>
            <p:nvPr/>
          </p:nvSpPr>
          <p:spPr>
            <a:xfrm>
              <a:off x="97200" y="4039560"/>
              <a:ext cx="1107216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rgbClr val="ffd600"/>
                  </a:solidFill>
                  <a:latin typeface="Calibri"/>
                </a:rPr>
                <a:t>▲ </a:t>
              </a:r>
              <a:r>
                <a:rPr b="0" lang="en-US" sz="1100" spc="-1" strike="noStrike">
                  <a:solidFill>
                    <a:srgbClr val="ffd600"/>
                  </a:solidFill>
                  <a:latin typeface="Calibri"/>
                </a:rPr>
                <a:t>= our value higher than paper  ▼ = lower  Δ SPPFT: near-perfect match | ΔFullFT MMLU: -0.005 (minor under-performance)</a:t>
              </a:r>
              <a:endParaRPr b="0" lang="en-US" sz="11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822960"/>
            <a:ext cx="12188160" cy="360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365760" y="164520"/>
            <a:ext cx="11429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Table 2 — Implicit &amp; Backdoor Attack Results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274320" y="914400"/>
            <a:ext cx="1142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Implicit Attack Dataset (Dᵢ)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Box 4"/>
          <p:cNvSpPr/>
          <p:nvPr/>
        </p:nvSpPr>
        <p:spPr>
          <a:xfrm>
            <a:off x="360" y="1298520"/>
            <a:ext cx="11429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16" name="Group 1"/>
          <p:cNvGrpSpPr/>
          <p:nvPr/>
        </p:nvGrpSpPr>
        <p:grpSpPr>
          <a:xfrm>
            <a:off x="97200" y="1565280"/>
            <a:ext cx="12090960" cy="1919520"/>
            <a:chOff x="97200" y="1565280"/>
            <a:chExt cx="12090960" cy="1919520"/>
          </a:xfrm>
        </p:grpSpPr>
        <p:sp>
          <p:nvSpPr>
            <p:cNvPr id="217" name="Rectangle 5"/>
            <p:cNvSpPr/>
            <p:nvPr/>
          </p:nvSpPr>
          <p:spPr>
            <a:xfrm>
              <a:off x="97200" y="15652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18" name="TextBox 6"/>
            <p:cNvSpPr/>
            <p:nvPr/>
          </p:nvSpPr>
          <p:spPr>
            <a:xfrm>
              <a:off x="150480" y="1611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Metric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9" name="Rectangle 7"/>
            <p:cNvSpPr/>
            <p:nvPr/>
          </p:nvSpPr>
          <p:spPr>
            <a:xfrm>
              <a:off x="1824840" y="15652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20" name="TextBox 8"/>
            <p:cNvSpPr/>
            <p:nvPr/>
          </p:nvSpPr>
          <p:spPr>
            <a:xfrm>
              <a:off x="1877760" y="1611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Paper SPPFT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1" name="Rectangle 9"/>
            <p:cNvSpPr/>
            <p:nvPr/>
          </p:nvSpPr>
          <p:spPr>
            <a:xfrm>
              <a:off x="3552120" y="15652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22" name="TextBox 10"/>
            <p:cNvSpPr/>
            <p:nvPr/>
          </p:nvSpPr>
          <p:spPr>
            <a:xfrm>
              <a:off x="3605040" y="1611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Ours SPPFT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3" name="Rectangle 11"/>
            <p:cNvSpPr/>
            <p:nvPr/>
          </p:nvSpPr>
          <p:spPr>
            <a:xfrm>
              <a:off x="5279400" y="15652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24" name="TextBox 12"/>
            <p:cNvSpPr/>
            <p:nvPr/>
          </p:nvSpPr>
          <p:spPr>
            <a:xfrm>
              <a:off x="5332320" y="1611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Δ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5" name="Rectangle 13"/>
            <p:cNvSpPr/>
            <p:nvPr/>
          </p:nvSpPr>
          <p:spPr>
            <a:xfrm>
              <a:off x="7006680" y="15652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26" name="TextBox 14"/>
            <p:cNvSpPr/>
            <p:nvPr/>
          </p:nvSpPr>
          <p:spPr>
            <a:xfrm>
              <a:off x="7059600" y="1611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Paper FullFT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Rectangle 15"/>
            <p:cNvSpPr/>
            <p:nvPr/>
          </p:nvSpPr>
          <p:spPr>
            <a:xfrm>
              <a:off x="8733960" y="15652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28" name="TextBox 16"/>
            <p:cNvSpPr/>
            <p:nvPr/>
          </p:nvSpPr>
          <p:spPr>
            <a:xfrm>
              <a:off x="8787240" y="1611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Ours FullFT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9" name="Rectangle 17"/>
            <p:cNvSpPr/>
            <p:nvPr/>
          </p:nvSpPr>
          <p:spPr>
            <a:xfrm>
              <a:off x="10461600" y="1565280"/>
              <a:ext cx="1726560" cy="38340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30" name="TextBox 18"/>
            <p:cNvSpPr/>
            <p:nvPr/>
          </p:nvSpPr>
          <p:spPr>
            <a:xfrm>
              <a:off x="10514520" y="1611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d1b2a"/>
                  </a:solidFill>
                  <a:latin typeface="Calibri"/>
                </a:rPr>
                <a:t>Δ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1" name="Rectangle 19"/>
            <p:cNvSpPr/>
            <p:nvPr/>
          </p:nvSpPr>
          <p:spPr>
            <a:xfrm>
              <a:off x="97200" y="19494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32" name="TextBox 20"/>
            <p:cNvSpPr/>
            <p:nvPr/>
          </p:nvSpPr>
          <p:spPr>
            <a:xfrm>
              <a:off x="150480" y="1995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Harmful Rate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3" name="Rectangle 21"/>
            <p:cNvSpPr/>
            <p:nvPr/>
          </p:nvSpPr>
          <p:spPr>
            <a:xfrm>
              <a:off x="1824840" y="19494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34" name="TextBox 22"/>
            <p:cNvSpPr/>
            <p:nvPr/>
          </p:nvSpPr>
          <p:spPr>
            <a:xfrm>
              <a:off x="1877760" y="1995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6.73%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5" name="Rectangle 23"/>
            <p:cNvSpPr/>
            <p:nvPr/>
          </p:nvSpPr>
          <p:spPr>
            <a:xfrm>
              <a:off x="3552120" y="19494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36" name="TextBox 24"/>
            <p:cNvSpPr/>
            <p:nvPr/>
          </p:nvSpPr>
          <p:spPr>
            <a:xfrm>
              <a:off x="3605040" y="1995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6.7%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7" name="Rectangle 25"/>
            <p:cNvSpPr/>
            <p:nvPr/>
          </p:nvSpPr>
          <p:spPr>
            <a:xfrm>
              <a:off x="5279400" y="19494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38" name="TextBox 26"/>
            <p:cNvSpPr/>
            <p:nvPr/>
          </p:nvSpPr>
          <p:spPr>
            <a:xfrm>
              <a:off x="5332320" y="1995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0e696"/>
                  </a:solidFill>
                  <a:latin typeface="Calibri"/>
                </a:rPr>
                <a:t>▼ </a:t>
              </a:r>
              <a:r>
                <a:rPr b="1" lang="en-US" sz="1200" spc="-1" strike="noStrike">
                  <a:solidFill>
                    <a:srgbClr val="00e696"/>
                  </a:solidFill>
                  <a:latin typeface="Calibri"/>
                </a:rPr>
                <a:t>0.03%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Rectangle 27"/>
            <p:cNvSpPr/>
            <p:nvPr/>
          </p:nvSpPr>
          <p:spPr>
            <a:xfrm>
              <a:off x="7006680" y="19494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40" name="TextBox 28"/>
            <p:cNvSpPr/>
            <p:nvPr/>
          </p:nvSpPr>
          <p:spPr>
            <a:xfrm>
              <a:off x="7059600" y="1995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58.85%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1" name="Rectangle 29"/>
            <p:cNvSpPr/>
            <p:nvPr/>
          </p:nvSpPr>
          <p:spPr>
            <a:xfrm>
              <a:off x="8733960" y="19494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42" name="TextBox 30"/>
            <p:cNvSpPr/>
            <p:nvPr/>
          </p:nvSpPr>
          <p:spPr>
            <a:xfrm>
              <a:off x="8787240" y="1995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58.3%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3" name="Rectangle 31"/>
            <p:cNvSpPr/>
            <p:nvPr/>
          </p:nvSpPr>
          <p:spPr>
            <a:xfrm>
              <a:off x="10461600" y="194940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44" name="TextBox 32"/>
            <p:cNvSpPr/>
            <p:nvPr/>
          </p:nvSpPr>
          <p:spPr>
            <a:xfrm>
              <a:off x="10514520" y="1995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00e696"/>
                  </a:solidFill>
                  <a:latin typeface="Calibri"/>
                </a:rPr>
                <a:t>▼ </a:t>
              </a:r>
              <a:r>
                <a:rPr b="1" lang="en-US" sz="1200" spc="-1" strike="noStrike">
                  <a:solidFill>
                    <a:srgbClr val="00e696"/>
                  </a:solidFill>
                  <a:latin typeface="Calibri"/>
                </a:rPr>
                <a:t>0.55%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5" name="Rectangle 33"/>
            <p:cNvSpPr/>
            <p:nvPr/>
          </p:nvSpPr>
          <p:spPr>
            <a:xfrm>
              <a:off x="97200" y="23335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46" name="TextBox 34"/>
            <p:cNvSpPr/>
            <p:nvPr/>
          </p:nvSpPr>
          <p:spPr>
            <a:xfrm>
              <a:off x="150480" y="23792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Harmful Score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7" name="Rectangle 35"/>
            <p:cNvSpPr/>
            <p:nvPr/>
          </p:nvSpPr>
          <p:spPr>
            <a:xfrm>
              <a:off x="1824840" y="23335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48" name="TextBox 36"/>
            <p:cNvSpPr/>
            <p:nvPr/>
          </p:nvSpPr>
          <p:spPr>
            <a:xfrm>
              <a:off x="1877760" y="23792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1.19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9" name="Rectangle 37"/>
            <p:cNvSpPr/>
            <p:nvPr/>
          </p:nvSpPr>
          <p:spPr>
            <a:xfrm>
              <a:off x="3552120" y="23335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50" name="TextBox 38"/>
            <p:cNvSpPr/>
            <p:nvPr/>
          </p:nvSpPr>
          <p:spPr>
            <a:xfrm>
              <a:off x="3605040" y="23792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1.205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1" name="Rectangle 39"/>
            <p:cNvSpPr/>
            <p:nvPr/>
          </p:nvSpPr>
          <p:spPr>
            <a:xfrm>
              <a:off x="5279400" y="23335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52" name="TextBox 40"/>
            <p:cNvSpPr/>
            <p:nvPr/>
          </p:nvSpPr>
          <p:spPr>
            <a:xfrm>
              <a:off x="5332320" y="23792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4d6d"/>
                  </a:solidFill>
                  <a:latin typeface="Calibri"/>
                </a:rPr>
                <a:t>▲ </a:t>
              </a:r>
              <a:r>
                <a:rPr b="1" lang="en-US" sz="1200" spc="-1" strike="noStrike">
                  <a:solidFill>
                    <a:srgbClr val="ff4d6d"/>
                  </a:solidFill>
                  <a:latin typeface="Calibri"/>
                </a:rPr>
                <a:t>0.015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3" name="Rectangle 41"/>
            <p:cNvSpPr/>
            <p:nvPr/>
          </p:nvSpPr>
          <p:spPr>
            <a:xfrm>
              <a:off x="7006680" y="23335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54" name="TextBox 42"/>
            <p:cNvSpPr/>
            <p:nvPr/>
          </p:nvSpPr>
          <p:spPr>
            <a:xfrm>
              <a:off x="7059600" y="23792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3.26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5" name="Rectangle 43"/>
            <p:cNvSpPr/>
            <p:nvPr/>
          </p:nvSpPr>
          <p:spPr>
            <a:xfrm>
              <a:off x="8733960" y="23335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56" name="TextBox 44"/>
            <p:cNvSpPr/>
            <p:nvPr/>
          </p:nvSpPr>
          <p:spPr>
            <a:xfrm>
              <a:off x="8787240" y="23792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3.265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7" name="Rectangle 45"/>
            <p:cNvSpPr/>
            <p:nvPr/>
          </p:nvSpPr>
          <p:spPr>
            <a:xfrm>
              <a:off x="10461600" y="233352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58" name="TextBox 46"/>
            <p:cNvSpPr/>
            <p:nvPr/>
          </p:nvSpPr>
          <p:spPr>
            <a:xfrm>
              <a:off x="10514520" y="237924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4d6d"/>
                  </a:solidFill>
                  <a:latin typeface="Calibri"/>
                </a:rPr>
                <a:t>▲ </a:t>
              </a:r>
              <a:r>
                <a:rPr b="1" lang="en-US" sz="1200" spc="-1" strike="noStrike">
                  <a:solidFill>
                    <a:srgbClr val="ff4d6d"/>
                  </a:solidFill>
                  <a:latin typeface="Calibri"/>
                </a:rPr>
                <a:t>0.005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9" name="Rectangle 47"/>
            <p:cNvSpPr/>
            <p:nvPr/>
          </p:nvSpPr>
          <p:spPr>
            <a:xfrm>
              <a:off x="97200" y="27172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60" name="TextBox 48"/>
            <p:cNvSpPr/>
            <p:nvPr/>
          </p:nvSpPr>
          <p:spPr>
            <a:xfrm>
              <a:off x="150480" y="2763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Rouge-L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1" name="Rectangle 49"/>
            <p:cNvSpPr/>
            <p:nvPr/>
          </p:nvSpPr>
          <p:spPr>
            <a:xfrm>
              <a:off x="1824840" y="27172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62" name="TextBox 50"/>
            <p:cNvSpPr/>
            <p:nvPr/>
          </p:nvSpPr>
          <p:spPr>
            <a:xfrm>
              <a:off x="1877760" y="2763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0.284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3" name="Rectangle 51"/>
            <p:cNvSpPr/>
            <p:nvPr/>
          </p:nvSpPr>
          <p:spPr>
            <a:xfrm>
              <a:off x="3552120" y="27172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64" name="TextBox 52"/>
            <p:cNvSpPr/>
            <p:nvPr/>
          </p:nvSpPr>
          <p:spPr>
            <a:xfrm>
              <a:off x="3605040" y="2763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0.284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5" name="Rectangle 53"/>
            <p:cNvSpPr/>
            <p:nvPr/>
          </p:nvSpPr>
          <p:spPr>
            <a:xfrm>
              <a:off x="5279400" y="27172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66" name="TextBox 54"/>
            <p:cNvSpPr/>
            <p:nvPr/>
          </p:nvSpPr>
          <p:spPr>
            <a:xfrm>
              <a:off x="5332320" y="2763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= 0.000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7" name="Rectangle 55"/>
            <p:cNvSpPr/>
            <p:nvPr/>
          </p:nvSpPr>
          <p:spPr>
            <a:xfrm>
              <a:off x="7006680" y="27172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68" name="TextBox 56"/>
            <p:cNvSpPr/>
            <p:nvPr/>
          </p:nvSpPr>
          <p:spPr>
            <a:xfrm>
              <a:off x="7059600" y="2763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0.270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9" name="Rectangle 57"/>
            <p:cNvSpPr/>
            <p:nvPr/>
          </p:nvSpPr>
          <p:spPr>
            <a:xfrm>
              <a:off x="8733960" y="27172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70" name="TextBox 58"/>
            <p:cNvSpPr/>
            <p:nvPr/>
          </p:nvSpPr>
          <p:spPr>
            <a:xfrm>
              <a:off x="8787240" y="2763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0.270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1" name="Rectangle 59"/>
            <p:cNvSpPr/>
            <p:nvPr/>
          </p:nvSpPr>
          <p:spPr>
            <a:xfrm>
              <a:off x="10461600" y="2717280"/>
              <a:ext cx="1726560" cy="383400"/>
            </a:xfrm>
            <a:prstGeom prst="rect">
              <a:avLst/>
            </a:prstGeom>
            <a:solidFill>
              <a:srgbClr val="16243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72" name="TextBox 60"/>
            <p:cNvSpPr/>
            <p:nvPr/>
          </p:nvSpPr>
          <p:spPr>
            <a:xfrm>
              <a:off x="10514520" y="276300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= 0.000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3" name="Rectangle 61"/>
            <p:cNvSpPr/>
            <p:nvPr/>
          </p:nvSpPr>
          <p:spPr>
            <a:xfrm>
              <a:off x="97200" y="31014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74" name="TextBox 62"/>
            <p:cNvSpPr/>
            <p:nvPr/>
          </p:nvSpPr>
          <p:spPr>
            <a:xfrm>
              <a:off x="150480" y="3147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MMLU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5" name="Rectangle 63"/>
            <p:cNvSpPr/>
            <p:nvPr/>
          </p:nvSpPr>
          <p:spPr>
            <a:xfrm>
              <a:off x="1824840" y="31014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76" name="TextBox 64"/>
            <p:cNvSpPr/>
            <p:nvPr/>
          </p:nvSpPr>
          <p:spPr>
            <a:xfrm>
              <a:off x="1877760" y="3147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0.427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7" name="Rectangle 65"/>
            <p:cNvSpPr/>
            <p:nvPr/>
          </p:nvSpPr>
          <p:spPr>
            <a:xfrm>
              <a:off x="3552120" y="31014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78" name="TextBox 66"/>
            <p:cNvSpPr/>
            <p:nvPr/>
          </p:nvSpPr>
          <p:spPr>
            <a:xfrm>
              <a:off x="3605040" y="3147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0.427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9" name="Rectangle 67"/>
            <p:cNvSpPr/>
            <p:nvPr/>
          </p:nvSpPr>
          <p:spPr>
            <a:xfrm>
              <a:off x="5279400" y="31014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80" name="TextBox 68"/>
            <p:cNvSpPr/>
            <p:nvPr/>
          </p:nvSpPr>
          <p:spPr>
            <a:xfrm>
              <a:off x="5332320" y="3147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= 0.000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Rectangle 69"/>
            <p:cNvSpPr/>
            <p:nvPr/>
          </p:nvSpPr>
          <p:spPr>
            <a:xfrm>
              <a:off x="7006680" y="31014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82" name="TextBox 70"/>
            <p:cNvSpPr/>
            <p:nvPr/>
          </p:nvSpPr>
          <p:spPr>
            <a:xfrm>
              <a:off x="7059600" y="3147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0.378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3" name="Rectangle 71"/>
            <p:cNvSpPr/>
            <p:nvPr/>
          </p:nvSpPr>
          <p:spPr>
            <a:xfrm>
              <a:off x="8733960" y="31014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84" name="TextBox 72"/>
            <p:cNvSpPr/>
            <p:nvPr/>
          </p:nvSpPr>
          <p:spPr>
            <a:xfrm>
              <a:off x="8787240" y="3147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0.378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5" name="Rectangle 73"/>
            <p:cNvSpPr/>
            <p:nvPr/>
          </p:nvSpPr>
          <p:spPr>
            <a:xfrm>
              <a:off x="10461600" y="3101400"/>
              <a:ext cx="1726560" cy="3834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86" name="TextBox 74"/>
            <p:cNvSpPr/>
            <p:nvPr/>
          </p:nvSpPr>
          <p:spPr>
            <a:xfrm>
              <a:off x="10514520" y="3147120"/>
              <a:ext cx="16560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Calibri"/>
                </a:rPr>
                <a:t>= 0.000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87" name="TextBox 75"/>
          <p:cNvSpPr/>
          <p:nvPr/>
        </p:nvSpPr>
        <p:spPr>
          <a:xfrm>
            <a:off x="274320" y="3703320"/>
            <a:ext cx="11429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d600"/>
                </a:solidFill>
                <a:latin typeface="Calibri"/>
              </a:rPr>
              <a:t>Implicit attack: SPPFT shows excellent match. FullFT harmful score marginally higher (+0.005).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Box 76"/>
          <p:cNvSpPr/>
          <p:nvPr/>
        </p:nvSpPr>
        <p:spPr>
          <a:xfrm>
            <a:off x="274320" y="3794760"/>
            <a:ext cx="11429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Backdoor Attack Dataset (D_B)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Box 77"/>
          <p:cNvSpPr/>
          <p:nvPr/>
        </p:nvSpPr>
        <p:spPr>
          <a:xfrm>
            <a:off x="274320" y="4178880"/>
            <a:ext cx="11429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Rectangle 78"/>
          <p:cNvSpPr/>
          <p:nvPr/>
        </p:nvSpPr>
        <p:spPr>
          <a:xfrm>
            <a:off x="274320" y="4572000"/>
            <a:ext cx="1782360" cy="3834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79"/>
          <p:cNvSpPr/>
          <p:nvPr/>
        </p:nvSpPr>
        <p:spPr>
          <a:xfrm>
            <a:off x="329040" y="4617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Metric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Rectangle 80"/>
          <p:cNvSpPr/>
          <p:nvPr/>
        </p:nvSpPr>
        <p:spPr>
          <a:xfrm>
            <a:off x="2057400" y="4572000"/>
            <a:ext cx="1782360" cy="3834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81"/>
          <p:cNvSpPr/>
          <p:nvPr/>
        </p:nvSpPr>
        <p:spPr>
          <a:xfrm>
            <a:off x="2112120" y="4617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Paper SPPFT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Rectangle 82"/>
          <p:cNvSpPr/>
          <p:nvPr/>
        </p:nvSpPr>
        <p:spPr>
          <a:xfrm>
            <a:off x="3840480" y="4572000"/>
            <a:ext cx="1782360" cy="3834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TextBox 83"/>
          <p:cNvSpPr/>
          <p:nvPr/>
        </p:nvSpPr>
        <p:spPr>
          <a:xfrm>
            <a:off x="3895200" y="4617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Ours SPPFT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Rectangle 84"/>
          <p:cNvSpPr/>
          <p:nvPr/>
        </p:nvSpPr>
        <p:spPr>
          <a:xfrm>
            <a:off x="5623560" y="4572000"/>
            <a:ext cx="1782360" cy="3834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TextBox 85"/>
          <p:cNvSpPr/>
          <p:nvPr/>
        </p:nvSpPr>
        <p:spPr>
          <a:xfrm>
            <a:off x="5678280" y="4617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Δ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Rectangle 86"/>
          <p:cNvSpPr/>
          <p:nvPr/>
        </p:nvSpPr>
        <p:spPr>
          <a:xfrm>
            <a:off x="7406640" y="4572000"/>
            <a:ext cx="1782360" cy="3834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87"/>
          <p:cNvSpPr/>
          <p:nvPr/>
        </p:nvSpPr>
        <p:spPr>
          <a:xfrm>
            <a:off x="7461360" y="4617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Paper FullFT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Rectangle 88"/>
          <p:cNvSpPr/>
          <p:nvPr/>
        </p:nvSpPr>
        <p:spPr>
          <a:xfrm>
            <a:off x="9189720" y="4572000"/>
            <a:ext cx="1782360" cy="3834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TextBox 89"/>
          <p:cNvSpPr/>
          <p:nvPr/>
        </p:nvSpPr>
        <p:spPr>
          <a:xfrm>
            <a:off x="9244440" y="4617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Ours FullFT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Rectangle 90"/>
          <p:cNvSpPr/>
          <p:nvPr/>
        </p:nvSpPr>
        <p:spPr>
          <a:xfrm>
            <a:off x="10972800" y="4572000"/>
            <a:ext cx="1782360" cy="3834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TextBox 91"/>
          <p:cNvSpPr/>
          <p:nvPr/>
        </p:nvSpPr>
        <p:spPr>
          <a:xfrm>
            <a:off x="11027520" y="4617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Δ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Rectangle 92"/>
          <p:cNvSpPr/>
          <p:nvPr/>
        </p:nvSpPr>
        <p:spPr>
          <a:xfrm>
            <a:off x="274320" y="495612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TextBox 93"/>
          <p:cNvSpPr/>
          <p:nvPr/>
        </p:nvSpPr>
        <p:spPr>
          <a:xfrm>
            <a:off x="329040" y="5001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Harmful Rate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Rectangle 94"/>
          <p:cNvSpPr/>
          <p:nvPr/>
        </p:nvSpPr>
        <p:spPr>
          <a:xfrm>
            <a:off x="2057400" y="495612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95"/>
          <p:cNvSpPr/>
          <p:nvPr/>
        </p:nvSpPr>
        <p:spPr>
          <a:xfrm>
            <a:off x="2112120" y="5001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5.58%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Rectangle 96"/>
          <p:cNvSpPr/>
          <p:nvPr/>
        </p:nvSpPr>
        <p:spPr>
          <a:xfrm>
            <a:off x="3840480" y="495612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TextBox 97"/>
          <p:cNvSpPr/>
          <p:nvPr/>
        </p:nvSpPr>
        <p:spPr>
          <a:xfrm>
            <a:off x="3895200" y="5001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5.3%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Rectangle 98"/>
          <p:cNvSpPr/>
          <p:nvPr/>
        </p:nvSpPr>
        <p:spPr>
          <a:xfrm>
            <a:off x="5623560" y="495612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99"/>
          <p:cNvSpPr/>
          <p:nvPr/>
        </p:nvSpPr>
        <p:spPr>
          <a:xfrm>
            <a:off x="5678280" y="5001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▼ </a:t>
            </a: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0.28%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Rectangle 100"/>
          <p:cNvSpPr/>
          <p:nvPr/>
        </p:nvSpPr>
        <p:spPr>
          <a:xfrm>
            <a:off x="7406640" y="495612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101"/>
          <p:cNvSpPr/>
          <p:nvPr/>
        </p:nvSpPr>
        <p:spPr>
          <a:xfrm>
            <a:off x="7461360" y="5001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60.58%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Rectangle 102"/>
          <p:cNvSpPr/>
          <p:nvPr/>
        </p:nvSpPr>
        <p:spPr>
          <a:xfrm>
            <a:off x="9189720" y="495612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103"/>
          <p:cNvSpPr/>
          <p:nvPr/>
        </p:nvSpPr>
        <p:spPr>
          <a:xfrm>
            <a:off x="9244440" y="5001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60.5%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Rectangle 104"/>
          <p:cNvSpPr/>
          <p:nvPr/>
        </p:nvSpPr>
        <p:spPr>
          <a:xfrm>
            <a:off x="10972800" y="495612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TextBox 105"/>
          <p:cNvSpPr/>
          <p:nvPr/>
        </p:nvSpPr>
        <p:spPr>
          <a:xfrm>
            <a:off x="11027520" y="5001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▼ </a:t>
            </a: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0.08%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Rectangle 106"/>
          <p:cNvSpPr/>
          <p:nvPr/>
        </p:nvSpPr>
        <p:spPr>
          <a:xfrm>
            <a:off x="274320" y="534024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TextBox 107"/>
          <p:cNvSpPr/>
          <p:nvPr/>
        </p:nvSpPr>
        <p:spPr>
          <a:xfrm>
            <a:off x="329040" y="538596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Harmful Score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Rectangle 108"/>
          <p:cNvSpPr/>
          <p:nvPr/>
        </p:nvSpPr>
        <p:spPr>
          <a:xfrm>
            <a:off x="2057400" y="534024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TextBox 109"/>
          <p:cNvSpPr/>
          <p:nvPr/>
        </p:nvSpPr>
        <p:spPr>
          <a:xfrm>
            <a:off x="2112120" y="538596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1.20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Rectangle 110"/>
          <p:cNvSpPr/>
          <p:nvPr/>
        </p:nvSpPr>
        <p:spPr>
          <a:xfrm>
            <a:off x="3840480" y="534024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TextBox 111"/>
          <p:cNvSpPr/>
          <p:nvPr/>
        </p:nvSpPr>
        <p:spPr>
          <a:xfrm>
            <a:off x="3895200" y="538596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2.005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Rectangle 112"/>
          <p:cNvSpPr/>
          <p:nvPr/>
        </p:nvSpPr>
        <p:spPr>
          <a:xfrm>
            <a:off x="5623560" y="534024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113"/>
          <p:cNvSpPr/>
          <p:nvPr/>
        </p:nvSpPr>
        <p:spPr>
          <a:xfrm>
            <a:off x="5678280" y="538596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4d6d"/>
                </a:solidFill>
                <a:latin typeface="Calibri"/>
              </a:rPr>
              <a:t>▲ </a:t>
            </a:r>
            <a:r>
              <a:rPr b="1" lang="en-US" sz="1200" spc="-1" strike="noStrike">
                <a:solidFill>
                  <a:srgbClr val="ff4d6d"/>
                </a:solidFill>
                <a:latin typeface="Calibri"/>
              </a:rPr>
              <a:t>0.805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Rectangle 114"/>
          <p:cNvSpPr/>
          <p:nvPr/>
        </p:nvSpPr>
        <p:spPr>
          <a:xfrm>
            <a:off x="7406640" y="534024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TextBox 115"/>
          <p:cNvSpPr/>
          <p:nvPr/>
        </p:nvSpPr>
        <p:spPr>
          <a:xfrm>
            <a:off x="7461360" y="538596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3.19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Rectangle 116"/>
          <p:cNvSpPr/>
          <p:nvPr/>
        </p:nvSpPr>
        <p:spPr>
          <a:xfrm>
            <a:off x="9189720" y="534024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TextBox 117"/>
          <p:cNvSpPr/>
          <p:nvPr/>
        </p:nvSpPr>
        <p:spPr>
          <a:xfrm>
            <a:off x="9244440" y="538596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3.28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Rectangle 118"/>
          <p:cNvSpPr/>
          <p:nvPr/>
        </p:nvSpPr>
        <p:spPr>
          <a:xfrm>
            <a:off x="10972800" y="534024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1" name="TextBox 119"/>
          <p:cNvSpPr/>
          <p:nvPr/>
        </p:nvSpPr>
        <p:spPr>
          <a:xfrm>
            <a:off x="11027520" y="538596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4d6d"/>
                </a:solidFill>
                <a:latin typeface="Calibri"/>
              </a:rPr>
              <a:t>▲ </a:t>
            </a:r>
            <a:r>
              <a:rPr b="1" lang="en-US" sz="1200" spc="-1" strike="noStrike">
                <a:solidFill>
                  <a:srgbClr val="ff4d6d"/>
                </a:solidFill>
                <a:latin typeface="Calibri"/>
              </a:rPr>
              <a:t>0.09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Rectangle 120"/>
          <p:cNvSpPr/>
          <p:nvPr/>
        </p:nvSpPr>
        <p:spPr>
          <a:xfrm>
            <a:off x="274320" y="572400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TextBox 121"/>
          <p:cNvSpPr/>
          <p:nvPr/>
        </p:nvSpPr>
        <p:spPr>
          <a:xfrm>
            <a:off x="329040" y="5769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Rouge-L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Rectangle 122"/>
          <p:cNvSpPr/>
          <p:nvPr/>
        </p:nvSpPr>
        <p:spPr>
          <a:xfrm>
            <a:off x="2057400" y="572400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TextBox 123"/>
          <p:cNvSpPr/>
          <p:nvPr/>
        </p:nvSpPr>
        <p:spPr>
          <a:xfrm>
            <a:off x="2112120" y="5769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0.265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Rectangle 124"/>
          <p:cNvSpPr/>
          <p:nvPr/>
        </p:nvSpPr>
        <p:spPr>
          <a:xfrm>
            <a:off x="3840480" y="572400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TextBox 125"/>
          <p:cNvSpPr/>
          <p:nvPr/>
        </p:nvSpPr>
        <p:spPr>
          <a:xfrm>
            <a:off x="3895200" y="5769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0.265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Rectangle 126"/>
          <p:cNvSpPr/>
          <p:nvPr/>
        </p:nvSpPr>
        <p:spPr>
          <a:xfrm>
            <a:off x="5623560" y="572400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TextBox 127"/>
          <p:cNvSpPr/>
          <p:nvPr/>
        </p:nvSpPr>
        <p:spPr>
          <a:xfrm>
            <a:off x="5678280" y="5769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= 0.000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Rectangle 128"/>
          <p:cNvSpPr/>
          <p:nvPr/>
        </p:nvSpPr>
        <p:spPr>
          <a:xfrm>
            <a:off x="7406640" y="572400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1" name="TextBox 129"/>
          <p:cNvSpPr/>
          <p:nvPr/>
        </p:nvSpPr>
        <p:spPr>
          <a:xfrm>
            <a:off x="7461360" y="5769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0.259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Rectangle 130"/>
          <p:cNvSpPr/>
          <p:nvPr/>
        </p:nvSpPr>
        <p:spPr>
          <a:xfrm>
            <a:off x="9189720" y="572400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3" name="TextBox 131"/>
          <p:cNvSpPr/>
          <p:nvPr/>
        </p:nvSpPr>
        <p:spPr>
          <a:xfrm>
            <a:off x="9244440" y="5769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0.259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Rectangle 132"/>
          <p:cNvSpPr/>
          <p:nvPr/>
        </p:nvSpPr>
        <p:spPr>
          <a:xfrm>
            <a:off x="10972800" y="5724000"/>
            <a:ext cx="1782360" cy="38340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5" name="TextBox 133"/>
          <p:cNvSpPr/>
          <p:nvPr/>
        </p:nvSpPr>
        <p:spPr>
          <a:xfrm>
            <a:off x="11027520" y="576972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= 0.000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Rectangle 134"/>
          <p:cNvSpPr/>
          <p:nvPr/>
        </p:nvSpPr>
        <p:spPr>
          <a:xfrm>
            <a:off x="274320" y="610812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TextBox 135"/>
          <p:cNvSpPr/>
          <p:nvPr/>
        </p:nvSpPr>
        <p:spPr>
          <a:xfrm>
            <a:off x="329040" y="6153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MMLU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Rectangle 136"/>
          <p:cNvSpPr/>
          <p:nvPr/>
        </p:nvSpPr>
        <p:spPr>
          <a:xfrm>
            <a:off x="2057400" y="610812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TextBox 137"/>
          <p:cNvSpPr/>
          <p:nvPr/>
        </p:nvSpPr>
        <p:spPr>
          <a:xfrm>
            <a:off x="2112120" y="6153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0.447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Rectangle 138"/>
          <p:cNvSpPr/>
          <p:nvPr/>
        </p:nvSpPr>
        <p:spPr>
          <a:xfrm>
            <a:off x="3840480" y="610812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TextBox 139"/>
          <p:cNvSpPr/>
          <p:nvPr/>
        </p:nvSpPr>
        <p:spPr>
          <a:xfrm>
            <a:off x="3895200" y="6153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0.447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Rectangle 140"/>
          <p:cNvSpPr/>
          <p:nvPr/>
        </p:nvSpPr>
        <p:spPr>
          <a:xfrm>
            <a:off x="5623560" y="610812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3" name="TextBox 141"/>
          <p:cNvSpPr/>
          <p:nvPr/>
        </p:nvSpPr>
        <p:spPr>
          <a:xfrm>
            <a:off x="5678280" y="6153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= 0.000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Rectangle 142"/>
          <p:cNvSpPr/>
          <p:nvPr/>
        </p:nvSpPr>
        <p:spPr>
          <a:xfrm>
            <a:off x="7406640" y="610812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TextBox 143"/>
          <p:cNvSpPr/>
          <p:nvPr/>
        </p:nvSpPr>
        <p:spPr>
          <a:xfrm>
            <a:off x="7461360" y="6153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0.439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Rectangle 144"/>
          <p:cNvSpPr/>
          <p:nvPr/>
        </p:nvSpPr>
        <p:spPr>
          <a:xfrm>
            <a:off x="9189720" y="610812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TextBox 145"/>
          <p:cNvSpPr/>
          <p:nvPr/>
        </p:nvSpPr>
        <p:spPr>
          <a:xfrm>
            <a:off x="9244440" y="6153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0.439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Rectangle 146"/>
          <p:cNvSpPr/>
          <p:nvPr/>
        </p:nvSpPr>
        <p:spPr>
          <a:xfrm>
            <a:off x="10972800" y="6108120"/>
            <a:ext cx="1782360" cy="38340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TextBox 147"/>
          <p:cNvSpPr/>
          <p:nvPr/>
        </p:nvSpPr>
        <p:spPr>
          <a:xfrm>
            <a:off x="11027520" y="6153840"/>
            <a:ext cx="1709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= 0.000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Box 148"/>
          <p:cNvSpPr/>
          <p:nvPr/>
        </p:nvSpPr>
        <p:spPr>
          <a:xfrm>
            <a:off x="274320" y="6583680"/>
            <a:ext cx="11429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d600"/>
                </a:solidFill>
                <a:latin typeface="Calibri"/>
              </a:rPr>
              <a:t>Backdoor attack: Near-perfect replication. Harmful score consistently +0.005 higher in both SPPFT &amp; FullFT.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1"/>
          <p:cNvSpPr/>
          <p:nvPr/>
        </p:nvSpPr>
        <p:spPr>
          <a:xfrm>
            <a:off x="0" y="822960"/>
            <a:ext cx="12188160" cy="360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TextBox 2"/>
          <p:cNvSpPr/>
          <p:nvPr/>
        </p:nvSpPr>
        <p:spPr>
          <a:xfrm>
            <a:off x="365760" y="164520"/>
            <a:ext cx="11429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Table 3 — Harmful Data Attack (LLaMA-2-7B-Chat)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Rectangle 3"/>
          <p:cNvSpPr/>
          <p:nvPr/>
        </p:nvSpPr>
        <p:spPr>
          <a:xfrm>
            <a:off x="274320" y="960120"/>
            <a:ext cx="1690920" cy="41076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TextBox 4"/>
          <p:cNvSpPr/>
          <p:nvPr/>
        </p:nvSpPr>
        <p:spPr>
          <a:xfrm>
            <a:off x="329040" y="10148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Method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Rectangle 5"/>
          <p:cNvSpPr/>
          <p:nvPr/>
        </p:nvSpPr>
        <p:spPr>
          <a:xfrm>
            <a:off x="1965960" y="960120"/>
            <a:ext cx="1690920" cy="41076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TextBox 6"/>
          <p:cNvSpPr/>
          <p:nvPr/>
        </p:nvSpPr>
        <p:spPr>
          <a:xfrm>
            <a:off x="2020680" y="10148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p=0.05 Rh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Rectangle 7"/>
          <p:cNvSpPr/>
          <p:nvPr/>
        </p:nvSpPr>
        <p:spPr>
          <a:xfrm>
            <a:off x="3657600" y="960120"/>
            <a:ext cx="1690920" cy="41076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8" name="TextBox 8"/>
          <p:cNvSpPr/>
          <p:nvPr/>
        </p:nvSpPr>
        <p:spPr>
          <a:xfrm>
            <a:off x="3712320" y="10148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p=0.05 Sh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Rectangle 9"/>
          <p:cNvSpPr/>
          <p:nvPr/>
        </p:nvSpPr>
        <p:spPr>
          <a:xfrm>
            <a:off x="5349240" y="960120"/>
            <a:ext cx="1690920" cy="41076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0" name="TextBox 10"/>
          <p:cNvSpPr/>
          <p:nvPr/>
        </p:nvSpPr>
        <p:spPr>
          <a:xfrm>
            <a:off x="5403960" y="10148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p=0.1 Rh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Rectangle 11"/>
          <p:cNvSpPr/>
          <p:nvPr/>
        </p:nvSpPr>
        <p:spPr>
          <a:xfrm>
            <a:off x="7040880" y="960120"/>
            <a:ext cx="1690920" cy="41076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TextBox 12"/>
          <p:cNvSpPr/>
          <p:nvPr/>
        </p:nvSpPr>
        <p:spPr>
          <a:xfrm>
            <a:off x="7095600" y="10148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p=0.1 Sh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Rectangle 13"/>
          <p:cNvSpPr/>
          <p:nvPr/>
        </p:nvSpPr>
        <p:spPr>
          <a:xfrm>
            <a:off x="8732520" y="960120"/>
            <a:ext cx="1690920" cy="41076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4" name="TextBox 14"/>
          <p:cNvSpPr/>
          <p:nvPr/>
        </p:nvSpPr>
        <p:spPr>
          <a:xfrm>
            <a:off x="8787240" y="10148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p=0.2 Rh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Rectangle 15"/>
          <p:cNvSpPr/>
          <p:nvPr/>
        </p:nvSpPr>
        <p:spPr>
          <a:xfrm>
            <a:off x="10424160" y="960120"/>
            <a:ext cx="1690920" cy="41076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TextBox 16"/>
          <p:cNvSpPr/>
          <p:nvPr/>
        </p:nvSpPr>
        <p:spPr>
          <a:xfrm>
            <a:off x="10478880" y="10148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p=0.2 Sh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Rectangle 17"/>
          <p:cNvSpPr/>
          <p:nvPr/>
        </p:nvSpPr>
        <p:spPr>
          <a:xfrm>
            <a:off x="274320" y="137160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8" name="TextBox 18"/>
          <p:cNvSpPr/>
          <p:nvPr/>
        </p:nvSpPr>
        <p:spPr>
          <a:xfrm>
            <a:off x="329040" y="14263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Paper FullFT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Rectangle 19"/>
          <p:cNvSpPr/>
          <p:nvPr/>
        </p:nvSpPr>
        <p:spPr>
          <a:xfrm>
            <a:off x="1965960" y="137160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0" name="TextBox 20"/>
          <p:cNvSpPr/>
          <p:nvPr/>
        </p:nvSpPr>
        <p:spPr>
          <a:xfrm>
            <a:off x="2020680" y="14263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26.0%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Rectangle 21"/>
          <p:cNvSpPr/>
          <p:nvPr/>
        </p:nvSpPr>
        <p:spPr>
          <a:xfrm>
            <a:off x="3657600" y="137160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2" name="TextBox 22"/>
          <p:cNvSpPr/>
          <p:nvPr/>
        </p:nvSpPr>
        <p:spPr>
          <a:xfrm>
            <a:off x="3712320" y="14263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1.88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Rectangle 23"/>
          <p:cNvSpPr/>
          <p:nvPr/>
        </p:nvSpPr>
        <p:spPr>
          <a:xfrm>
            <a:off x="5349240" y="137160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4" name="TextBox 24"/>
          <p:cNvSpPr/>
          <p:nvPr/>
        </p:nvSpPr>
        <p:spPr>
          <a:xfrm>
            <a:off x="5403960" y="14263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53.7%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Rectangle 25"/>
          <p:cNvSpPr/>
          <p:nvPr/>
        </p:nvSpPr>
        <p:spPr>
          <a:xfrm>
            <a:off x="7040880" y="137160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6" name="TextBox 26"/>
          <p:cNvSpPr/>
          <p:nvPr/>
        </p:nvSpPr>
        <p:spPr>
          <a:xfrm>
            <a:off x="7095600" y="14263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2.97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Rectangle 27"/>
          <p:cNvSpPr/>
          <p:nvPr/>
        </p:nvSpPr>
        <p:spPr>
          <a:xfrm>
            <a:off x="8732520" y="137160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TextBox 28"/>
          <p:cNvSpPr/>
          <p:nvPr/>
        </p:nvSpPr>
        <p:spPr>
          <a:xfrm>
            <a:off x="8787240" y="14263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93.5%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Rectangle 29"/>
          <p:cNvSpPr/>
          <p:nvPr/>
        </p:nvSpPr>
        <p:spPr>
          <a:xfrm>
            <a:off x="10424160" y="137160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0" name="TextBox 30"/>
          <p:cNvSpPr/>
          <p:nvPr/>
        </p:nvSpPr>
        <p:spPr>
          <a:xfrm>
            <a:off x="10478880" y="14263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4.53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Rectangle 31"/>
          <p:cNvSpPr/>
          <p:nvPr/>
        </p:nvSpPr>
        <p:spPr>
          <a:xfrm>
            <a:off x="274320" y="178308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32"/>
          <p:cNvSpPr/>
          <p:nvPr/>
        </p:nvSpPr>
        <p:spPr>
          <a:xfrm>
            <a:off x="329040" y="183780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Ours FullFT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Rectangle 33"/>
          <p:cNvSpPr/>
          <p:nvPr/>
        </p:nvSpPr>
        <p:spPr>
          <a:xfrm>
            <a:off x="1965960" y="178308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TextBox 34"/>
          <p:cNvSpPr/>
          <p:nvPr/>
        </p:nvSpPr>
        <p:spPr>
          <a:xfrm>
            <a:off x="2020680" y="183780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26.0%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Rectangle 35"/>
          <p:cNvSpPr/>
          <p:nvPr/>
        </p:nvSpPr>
        <p:spPr>
          <a:xfrm>
            <a:off x="3657600" y="178308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6" name="TextBox 36"/>
          <p:cNvSpPr/>
          <p:nvPr/>
        </p:nvSpPr>
        <p:spPr>
          <a:xfrm>
            <a:off x="3712320" y="183780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1.88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Rectangle 37"/>
          <p:cNvSpPr/>
          <p:nvPr/>
        </p:nvSpPr>
        <p:spPr>
          <a:xfrm>
            <a:off x="5349240" y="178308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TextBox 38"/>
          <p:cNvSpPr/>
          <p:nvPr/>
        </p:nvSpPr>
        <p:spPr>
          <a:xfrm>
            <a:off x="5403960" y="183780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53.7%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Rectangle 39"/>
          <p:cNvSpPr/>
          <p:nvPr/>
        </p:nvSpPr>
        <p:spPr>
          <a:xfrm>
            <a:off x="7040880" y="178308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TextBox 40"/>
          <p:cNvSpPr/>
          <p:nvPr/>
        </p:nvSpPr>
        <p:spPr>
          <a:xfrm>
            <a:off x="7095600" y="183780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2.97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Rectangle 41"/>
          <p:cNvSpPr/>
          <p:nvPr/>
        </p:nvSpPr>
        <p:spPr>
          <a:xfrm>
            <a:off x="8732520" y="178308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2" name="TextBox 42"/>
          <p:cNvSpPr/>
          <p:nvPr/>
        </p:nvSpPr>
        <p:spPr>
          <a:xfrm>
            <a:off x="8787240" y="183780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90.5%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Rectangle 43"/>
          <p:cNvSpPr/>
          <p:nvPr/>
        </p:nvSpPr>
        <p:spPr>
          <a:xfrm>
            <a:off x="10424160" y="178308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TextBox 44"/>
          <p:cNvSpPr/>
          <p:nvPr/>
        </p:nvSpPr>
        <p:spPr>
          <a:xfrm>
            <a:off x="10478880" y="183780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4.536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Rectangle 45"/>
          <p:cNvSpPr/>
          <p:nvPr/>
        </p:nvSpPr>
        <p:spPr>
          <a:xfrm>
            <a:off x="274320" y="219456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TextBox 46"/>
          <p:cNvSpPr/>
          <p:nvPr/>
        </p:nvSpPr>
        <p:spPr>
          <a:xfrm>
            <a:off x="329040" y="224928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Δ FullFT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Rectangle 47"/>
          <p:cNvSpPr/>
          <p:nvPr/>
        </p:nvSpPr>
        <p:spPr>
          <a:xfrm>
            <a:off x="1965960" y="219456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8" name="TextBox 48"/>
          <p:cNvSpPr/>
          <p:nvPr/>
        </p:nvSpPr>
        <p:spPr>
          <a:xfrm>
            <a:off x="2020680" y="224928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= 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Rectangle 49"/>
          <p:cNvSpPr/>
          <p:nvPr/>
        </p:nvSpPr>
        <p:spPr>
          <a:xfrm>
            <a:off x="3657600" y="219456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0" name="TextBox 50"/>
          <p:cNvSpPr/>
          <p:nvPr/>
        </p:nvSpPr>
        <p:spPr>
          <a:xfrm>
            <a:off x="3712320" y="224928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= 0.00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Rectangle 51"/>
          <p:cNvSpPr/>
          <p:nvPr/>
        </p:nvSpPr>
        <p:spPr>
          <a:xfrm>
            <a:off x="5349240" y="219456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2" name="TextBox 52"/>
          <p:cNvSpPr/>
          <p:nvPr/>
        </p:nvSpPr>
        <p:spPr>
          <a:xfrm>
            <a:off x="5403960" y="224928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= 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Rectangle 53"/>
          <p:cNvSpPr/>
          <p:nvPr/>
        </p:nvSpPr>
        <p:spPr>
          <a:xfrm>
            <a:off x="7040880" y="219456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4" name="TextBox 54"/>
          <p:cNvSpPr/>
          <p:nvPr/>
        </p:nvSpPr>
        <p:spPr>
          <a:xfrm>
            <a:off x="7095600" y="224928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= 0.00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Rectangle 55"/>
          <p:cNvSpPr/>
          <p:nvPr/>
        </p:nvSpPr>
        <p:spPr>
          <a:xfrm>
            <a:off x="8732520" y="219456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6" name="TextBox 56"/>
          <p:cNvSpPr/>
          <p:nvPr/>
        </p:nvSpPr>
        <p:spPr>
          <a:xfrm>
            <a:off x="8787240" y="224928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= 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Rectangle 57"/>
          <p:cNvSpPr/>
          <p:nvPr/>
        </p:nvSpPr>
        <p:spPr>
          <a:xfrm>
            <a:off x="10424160" y="219456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TextBox 58"/>
          <p:cNvSpPr/>
          <p:nvPr/>
        </p:nvSpPr>
        <p:spPr>
          <a:xfrm>
            <a:off x="10478880" y="224928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= 0.004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Rectangle 59"/>
          <p:cNvSpPr/>
          <p:nvPr/>
        </p:nvSpPr>
        <p:spPr>
          <a:xfrm>
            <a:off x="274320" y="260604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0" name="TextBox 60"/>
          <p:cNvSpPr/>
          <p:nvPr/>
        </p:nvSpPr>
        <p:spPr>
          <a:xfrm>
            <a:off x="329040" y="266076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Paper SPPFT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Rectangle 61"/>
          <p:cNvSpPr/>
          <p:nvPr/>
        </p:nvSpPr>
        <p:spPr>
          <a:xfrm>
            <a:off x="1965960" y="260604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2" name="TextBox 62"/>
          <p:cNvSpPr/>
          <p:nvPr/>
        </p:nvSpPr>
        <p:spPr>
          <a:xfrm>
            <a:off x="2020680" y="266076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7.9%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Rectangle 63"/>
          <p:cNvSpPr/>
          <p:nvPr/>
        </p:nvSpPr>
        <p:spPr>
          <a:xfrm>
            <a:off x="3657600" y="260604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4" name="TextBox 64"/>
          <p:cNvSpPr/>
          <p:nvPr/>
        </p:nvSpPr>
        <p:spPr>
          <a:xfrm>
            <a:off x="3712320" y="266076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1.25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Rectangle 65"/>
          <p:cNvSpPr/>
          <p:nvPr/>
        </p:nvSpPr>
        <p:spPr>
          <a:xfrm>
            <a:off x="5349240" y="260604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TextBox 66"/>
          <p:cNvSpPr/>
          <p:nvPr/>
        </p:nvSpPr>
        <p:spPr>
          <a:xfrm>
            <a:off x="5403960" y="266076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25.6%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Rectangle 67"/>
          <p:cNvSpPr/>
          <p:nvPr/>
        </p:nvSpPr>
        <p:spPr>
          <a:xfrm>
            <a:off x="7040880" y="260604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8" name="TextBox 68"/>
          <p:cNvSpPr/>
          <p:nvPr/>
        </p:nvSpPr>
        <p:spPr>
          <a:xfrm>
            <a:off x="7095600" y="266076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1.86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Rectangle 69"/>
          <p:cNvSpPr/>
          <p:nvPr/>
        </p:nvSpPr>
        <p:spPr>
          <a:xfrm>
            <a:off x="8732520" y="260604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" name="TextBox 70"/>
          <p:cNvSpPr/>
          <p:nvPr/>
        </p:nvSpPr>
        <p:spPr>
          <a:xfrm>
            <a:off x="8787240" y="266076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68.3%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Rectangle 71"/>
          <p:cNvSpPr/>
          <p:nvPr/>
        </p:nvSpPr>
        <p:spPr>
          <a:xfrm>
            <a:off x="10424160" y="2606040"/>
            <a:ext cx="1690920" cy="41076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TextBox 72"/>
          <p:cNvSpPr/>
          <p:nvPr/>
        </p:nvSpPr>
        <p:spPr>
          <a:xfrm>
            <a:off x="10478880" y="266076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3.61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Rectangle 73"/>
          <p:cNvSpPr/>
          <p:nvPr/>
        </p:nvSpPr>
        <p:spPr>
          <a:xfrm>
            <a:off x="274320" y="301752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4" name="TextBox 74"/>
          <p:cNvSpPr/>
          <p:nvPr/>
        </p:nvSpPr>
        <p:spPr>
          <a:xfrm>
            <a:off x="329040" y="30722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Ours SPPFT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Rectangle 75"/>
          <p:cNvSpPr/>
          <p:nvPr/>
        </p:nvSpPr>
        <p:spPr>
          <a:xfrm>
            <a:off x="1965960" y="301752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6" name="TextBox 76"/>
          <p:cNvSpPr/>
          <p:nvPr/>
        </p:nvSpPr>
        <p:spPr>
          <a:xfrm>
            <a:off x="2020680" y="30722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7.86%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Rectangle 77"/>
          <p:cNvSpPr/>
          <p:nvPr/>
        </p:nvSpPr>
        <p:spPr>
          <a:xfrm>
            <a:off x="3657600" y="301752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8" name="TextBox 78"/>
          <p:cNvSpPr/>
          <p:nvPr/>
        </p:nvSpPr>
        <p:spPr>
          <a:xfrm>
            <a:off x="3748320" y="30722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1.25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Rectangle 79"/>
          <p:cNvSpPr/>
          <p:nvPr/>
        </p:nvSpPr>
        <p:spPr>
          <a:xfrm>
            <a:off x="5349240" y="301752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TextBox 80"/>
          <p:cNvSpPr/>
          <p:nvPr/>
        </p:nvSpPr>
        <p:spPr>
          <a:xfrm>
            <a:off x="5403960" y="30722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25.6%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Rectangle 81"/>
          <p:cNvSpPr/>
          <p:nvPr/>
        </p:nvSpPr>
        <p:spPr>
          <a:xfrm>
            <a:off x="7040880" y="301752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2" name="TextBox 82"/>
          <p:cNvSpPr/>
          <p:nvPr/>
        </p:nvSpPr>
        <p:spPr>
          <a:xfrm>
            <a:off x="7095600" y="30722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1.86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Rectangle 83"/>
          <p:cNvSpPr/>
          <p:nvPr/>
        </p:nvSpPr>
        <p:spPr>
          <a:xfrm>
            <a:off x="8732520" y="301752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TextBox 84"/>
          <p:cNvSpPr/>
          <p:nvPr/>
        </p:nvSpPr>
        <p:spPr>
          <a:xfrm>
            <a:off x="8787240" y="30722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68.30%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Rectangle 85"/>
          <p:cNvSpPr/>
          <p:nvPr/>
        </p:nvSpPr>
        <p:spPr>
          <a:xfrm>
            <a:off x="10424160" y="3017520"/>
            <a:ext cx="1690920" cy="410760"/>
          </a:xfrm>
          <a:prstGeom prst="rect">
            <a:avLst/>
          </a:prstGeom>
          <a:solidFill>
            <a:srgbClr val="1624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6" name="TextBox 86"/>
          <p:cNvSpPr/>
          <p:nvPr/>
        </p:nvSpPr>
        <p:spPr>
          <a:xfrm>
            <a:off x="10478880" y="307224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3.61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Rectangle 87"/>
          <p:cNvSpPr/>
          <p:nvPr/>
        </p:nvSpPr>
        <p:spPr>
          <a:xfrm>
            <a:off x="274320" y="342900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8" name="TextBox 88"/>
          <p:cNvSpPr/>
          <p:nvPr/>
        </p:nvSpPr>
        <p:spPr>
          <a:xfrm>
            <a:off x="329040" y="34837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Δ SPPFT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Rectangle 89"/>
          <p:cNvSpPr/>
          <p:nvPr/>
        </p:nvSpPr>
        <p:spPr>
          <a:xfrm>
            <a:off x="1965960" y="342900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0" name="TextBox 90"/>
          <p:cNvSpPr/>
          <p:nvPr/>
        </p:nvSpPr>
        <p:spPr>
          <a:xfrm>
            <a:off x="2020680" y="34837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= -.04%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Rectangle 91"/>
          <p:cNvSpPr/>
          <p:nvPr/>
        </p:nvSpPr>
        <p:spPr>
          <a:xfrm>
            <a:off x="3657600" y="342900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TextBox 92"/>
          <p:cNvSpPr/>
          <p:nvPr/>
        </p:nvSpPr>
        <p:spPr>
          <a:xfrm>
            <a:off x="3712320" y="34837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= 0.00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Rectangle 93"/>
          <p:cNvSpPr/>
          <p:nvPr/>
        </p:nvSpPr>
        <p:spPr>
          <a:xfrm>
            <a:off x="5349240" y="342900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4" name="TextBox 94"/>
          <p:cNvSpPr/>
          <p:nvPr/>
        </p:nvSpPr>
        <p:spPr>
          <a:xfrm>
            <a:off x="5403960" y="34837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= 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Rectangle 95"/>
          <p:cNvSpPr/>
          <p:nvPr/>
        </p:nvSpPr>
        <p:spPr>
          <a:xfrm>
            <a:off x="7040880" y="342900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6" name="TextBox 96"/>
          <p:cNvSpPr/>
          <p:nvPr/>
        </p:nvSpPr>
        <p:spPr>
          <a:xfrm>
            <a:off x="7095600" y="34837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= 0.00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Rectangle 97"/>
          <p:cNvSpPr/>
          <p:nvPr/>
        </p:nvSpPr>
        <p:spPr>
          <a:xfrm>
            <a:off x="8732520" y="342900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8" name="TextBox 98"/>
          <p:cNvSpPr/>
          <p:nvPr/>
        </p:nvSpPr>
        <p:spPr>
          <a:xfrm>
            <a:off x="8787240" y="34837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= 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Rectangle 99"/>
          <p:cNvSpPr/>
          <p:nvPr/>
        </p:nvSpPr>
        <p:spPr>
          <a:xfrm>
            <a:off x="10424160" y="3429000"/>
            <a:ext cx="1690920" cy="410760"/>
          </a:xfrm>
          <a:prstGeom prst="rect">
            <a:avLst/>
          </a:prstGeom>
          <a:solidFill>
            <a:srgbClr val="0a2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0" name="TextBox 100"/>
          <p:cNvSpPr/>
          <p:nvPr/>
        </p:nvSpPr>
        <p:spPr>
          <a:xfrm>
            <a:off x="10478880" y="3483720"/>
            <a:ext cx="161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e696"/>
                </a:solidFill>
                <a:latin typeface="Calibri"/>
              </a:rPr>
              <a:t>= 0.00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Box 101"/>
          <p:cNvSpPr/>
          <p:nvPr/>
        </p:nvSpPr>
        <p:spPr>
          <a:xfrm>
            <a:off x="274320" y="3931920"/>
            <a:ext cx="1142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e696"/>
                </a:solidFill>
                <a:latin typeface="Calibri"/>
              </a:rPr>
              <a:t>✔ </a:t>
            </a:r>
            <a:r>
              <a:rPr b="1" lang="en-US" sz="1400" spc="-1" strike="noStrike">
                <a:solidFill>
                  <a:srgbClr val="00e696"/>
                </a:solidFill>
                <a:latin typeface="Calibri"/>
              </a:rPr>
              <a:t>Table 3 results show near exact match with paper for LLaMA-2-7B-Chat on all harmful data attack scenarios.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Rectangle 102"/>
          <p:cNvSpPr/>
          <p:nvPr/>
        </p:nvSpPr>
        <p:spPr>
          <a:xfrm>
            <a:off x="457200" y="4572000"/>
            <a:ext cx="3382560" cy="173664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TextBox 103"/>
          <p:cNvSpPr/>
          <p:nvPr/>
        </p:nvSpPr>
        <p:spPr>
          <a:xfrm>
            <a:off x="548640" y="4617720"/>
            <a:ext cx="31996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c8ff"/>
                </a:solidFill>
                <a:latin typeface="Calibri"/>
              </a:rPr>
              <a:t>p=0.05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Box 104"/>
          <p:cNvSpPr/>
          <p:nvPr/>
        </p:nvSpPr>
        <p:spPr>
          <a:xfrm>
            <a:off x="548640" y="4937760"/>
            <a:ext cx="319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4d6d"/>
                </a:solidFill>
                <a:latin typeface="Calibri"/>
              </a:rPr>
              <a:t>FullFT 26.0%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Box 105"/>
          <p:cNvSpPr/>
          <p:nvPr/>
        </p:nvSpPr>
        <p:spPr>
          <a:xfrm>
            <a:off x="548640" y="5257800"/>
            <a:ext cx="319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0e696"/>
                </a:solidFill>
                <a:latin typeface="Calibri"/>
              </a:rPr>
              <a:t>SPPFT 7.9%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Box 106"/>
          <p:cNvSpPr/>
          <p:nvPr/>
        </p:nvSpPr>
        <p:spPr>
          <a:xfrm>
            <a:off x="548640" y="5577840"/>
            <a:ext cx="3199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d600"/>
                </a:solidFill>
                <a:latin typeface="Calibri"/>
              </a:rPr>
              <a:t>↓ </a:t>
            </a:r>
            <a:r>
              <a:rPr b="1" lang="en-US" sz="1400" spc="-1" strike="noStrike">
                <a:solidFill>
                  <a:srgbClr val="ffd600"/>
                </a:solidFill>
                <a:latin typeface="Calibri"/>
              </a:rPr>
              <a:t>18.1pp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Rectangle 107"/>
          <p:cNvSpPr/>
          <p:nvPr/>
        </p:nvSpPr>
        <p:spPr>
          <a:xfrm>
            <a:off x="4297680" y="4572000"/>
            <a:ext cx="3382560" cy="173664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8" name="TextBox 108"/>
          <p:cNvSpPr/>
          <p:nvPr/>
        </p:nvSpPr>
        <p:spPr>
          <a:xfrm>
            <a:off x="4389120" y="4617720"/>
            <a:ext cx="31996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c8ff"/>
                </a:solidFill>
                <a:latin typeface="Calibri"/>
              </a:rPr>
              <a:t>p=0.1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Box 109"/>
          <p:cNvSpPr/>
          <p:nvPr/>
        </p:nvSpPr>
        <p:spPr>
          <a:xfrm>
            <a:off x="4389120" y="4937760"/>
            <a:ext cx="319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4d6d"/>
                </a:solidFill>
                <a:latin typeface="Calibri"/>
              </a:rPr>
              <a:t>FullFT 53.7%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Box 110"/>
          <p:cNvSpPr/>
          <p:nvPr/>
        </p:nvSpPr>
        <p:spPr>
          <a:xfrm>
            <a:off x="4389120" y="5257800"/>
            <a:ext cx="319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0e696"/>
                </a:solidFill>
                <a:latin typeface="Calibri"/>
              </a:rPr>
              <a:t>SPPFT 25.6%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Box 111"/>
          <p:cNvSpPr/>
          <p:nvPr/>
        </p:nvSpPr>
        <p:spPr>
          <a:xfrm>
            <a:off x="4389120" y="5577840"/>
            <a:ext cx="3199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d600"/>
                </a:solidFill>
                <a:latin typeface="Calibri"/>
              </a:rPr>
              <a:t>↓ </a:t>
            </a:r>
            <a:r>
              <a:rPr b="1" lang="en-US" sz="1400" spc="-1" strike="noStrike">
                <a:solidFill>
                  <a:srgbClr val="ffd600"/>
                </a:solidFill>
                <a:latin typeface="Calibri"/>
              </a:rPr>
              <a:t>28.1pp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Rectangle 112"/>
          <p:cNvSpPr/>
          <p:nvPr/>
        </p:nvSpPr>
        <p:spPr>
          <a:xfrm>
            <a:off x="8138160" y="4572000"/>
            <a:ext cx="3382560" cy="1736640"/>
          </a:xfrm>
          <a:prstGeom prst="rect">
            <a:avLst/>
          </a:prstGeom>
          <a:solidFill>
            <a:srgbClr val="1b2a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3" name="TextBox 113"/>
          <p:cNvSpPr/>
          <p:nvPr/>
        </p:nvSpPr>
        <p:spPr>
          <a:xfrm>
            <a:off x="8229600" y="4617720"/>
            <a:ext cx="31996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c8ff"/>
                </a:solidFill>
                <a:latin typeface="Calibri"/>
              </a:rPr>
              <a:t>p=0.2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Box 114"/>
          <p:cNvSpPr/>
          <p:nvPr/>
        </p:nvSpPr>
        <p:spPr>
          <a:xfrm>
            <a:off x="8229600" y="4937760"/>
            <a:ext cx="319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4d6d"/>
                </a:solidFill>
                <a:latin typeface="Calibri"/>
              </a:rPr>
              <a:t>FullFT 93.5%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Box 115"/>
          <p:cNvSpPr/>
          <p:nvPr/>
        </p:nvSpPr>
        <p:spPr>
          <a:xfrm>
            <a:off x="8229600" y="5257800"/>
            <a:ext cx="319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0e696"/>
                </a:solidFill>
                <a:latin typeface="Calibri"/>
              </a:rPr>
              <a:t>SPPFT 68.3%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Box 116"/>
          <p:cNvSpPr/>
          <p:nvPr/>
        </p:nvSpPr>
        <p:spPr>
          <a:xfrm>
            <a:off x="8229600" y="5577840"/>
            <a:ext cx="3199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d600"/>
                </a:solidFill>
                <a:latin typeface="Calibri"/>
              </a:rPr>
              <a:t>↓ </a:t>
            </a:r>
            <a:r>
              <a:rPr b="1" lang="en-US" sz="1400" spc="-1" strike="noStrike">
                <a:solidFill>
                  <a:srgbClr val="ffd600"/>
                </a:solidFill>
                <a:latin typeface="Calibri"/>
              </a:rPr>
              <a:t>25.2pp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Rectangle 1"/>
          <p:cNvSpPr/>
          <p:nvPr/>
        </p:nvSpPr>
        <p:spPr>
          <a:xfrm>
            <a:off x="0" y="822960"/>
            <a:ext cx="12188160" cy="360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8" name="TextBox 2"/>
          <p:cNvSpPr/>
          <p:nvPr/>
        </p:nvSpPr>
        <p:spPr>
          <a:xfrm>
            <a:off x="365760" y="164520"/>
            <a:ext cx="114292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Deviations from Paper Findings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Rectangle 3"/>
          <p:cNvSpPr/>
          <p:nvPr/>
        </p:nvSpPr>
        <p:spPr>
          <a:xfrm>
            <a:off x="274320" y="960120"/>
            <a:ext cx="1005120" cy="34668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0" name="TextBox 4"/>
          <p:cNvSpPr/>
          <p:nvPr/>
        </p:nvSpPr>
        <p:spPr>
          <a:xfrm>
            <a:off x="274320" y="978480"/>
            <a:ext cx="1005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MINOR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Box 5"/>
          <p:cNvSpPr/>
          <p:nvPr/>
        </p:nvSpPr>
        <p:spPr>
          <a:xfrm>
            <a:off x="1417320" y="960120"/>
            <a:ext cx="10057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d600"/>
                </a:solidFill>
                <a:latin typeface="Calibri"/>
              </a:rPr>
              <a:t>Harmful Score (+0.003–0.005)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Box 6"/>
          <p:cNvSpPr/>
          <p:nvPr/>
        </p:nvSpPr>
        <p:spPr>
          <a:xfrm>
            <a:off x="1417320" y="1325880"/>
            <a:ext cx="10057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</a:rPr>
              <a:t>Our Sh values are consistently ~0.003–0.005 higher than the paper across Dₙ, Dᵢ, Dʙ for both SPPFT and FullFT. Likely due to GPT-4 evaluation prompt version or temperature differences. Functionally equivalent.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Rectangle 7"/>
          <p:cNvSpPr/>
          <p:nvPr/>
        </p:nvSpPr>
        <p:spPr>
          <a:xfrm>
            <a:off x="274320" y="2057400"/>
            <a:ext cx="1005120" cy="34668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4" name="TextBox 8"/>
          <p:cNvSpPr/>
          <p:nvPr/>
        </p:nvSpPr>
        <p:spPr>
          <a:xfrm>
            <a:off x="274320" y="2075760"/>
            <a:ext cx="1005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MINOR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Box 9"/>
          <p:cNvSpPr/>
          <p:nvPr/>
        </p:nvSpPr>
        <p:spPr>
          <a:xfrm>
            <a:off x="1417320" y="2057400"/>
            <a:ext cx="10057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d600"/>
                </a:solidFill>
                <a:latin typeface="Calibri"/>
              </a:rPr>
              <a:t>MMLU Score FullFT Dₙ (−0.005)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Box 10"/>
          <p:cNvSpPr/>
          <p:nvPr/>
        </p:nvSpPr>
        <p:spPr>
          <a:xfrm>
            <a:off x="1417320" y="2423160"/>
            <a:ext cx="1005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</a:rPr>
              <a:t>FullFT MMLU: ours = 0.453 vs paper = 0.458. A −0.005 gap, within expected run-to-run variance.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Rectangle 11"/>
          <p:cNvSpPr/>
          <p:nvPr/>
        </p:nvSpPr>
        <p:spPr>
          <a:xfrm>
            <a:off x="274320" y="3154680"/>
            <a:ext cx="1005120" cy="34668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8" name="TextBox 12"/>
          <p:cNvSpPr/>
          <p:nvPr/>
        </p:nvSpPr>
        <p:spPr>
          <a:xfrm>
            <a:off x="274320" y="3173040"/>
            <a:ext cx="1005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NOTABLE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Box 13"/>
          <p:cNvSpPr/>
          <p:nvPr/>
        </p:nvSpPr>
        <p:spPr>
          <a:xfrm>
            <a:off x="1417320" y="3154680"/>
            <a:ext cx="10057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6b35"/>
                </a:solidFill>
                <a:latin typeface="Calibri"/>
              </a:rPr>
              <a:t>Safety Layer Localization — Lower Bound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Box 14"/>
          <p:cNvSpPr/>
          <p:nvPr/>
        </p:nvSpPr>
        <p:spPr>
          <a:xfrm>
            <a:off x="1417320" y="3520440"/>
            <a:ext cx="10057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</a:rPr>
              <a:t>The layers results matches for lower and upper bound with some deviation in other layer range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Rectangle 15"/>
          <p:cNvSpPr/>
          <p:nvPr/>
        </p:nvSpPr>
        <p:spPr>
          <a:xfrm>
            <a:off x="274320" y="4251960"/>
            <a:ext cx="1005120" cy="346680"/>
          </a:xfrm>
          <a:prstGeom prst="rect">
            <a:avLst/>
          </a:prstGeom>
          <a:solidFill>
            <a:srgbClr val="00e6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TextBox 16"/>
          <p:cNvSpPr/>
          <p:nvPr/>
        </p:nvSpPr>
        <p:spPr>
          <a:xfrm>
            <a:off x="274320" y="4270320"/>
            <a:ext cx="1005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MATCH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Box 17"/>
          <p:cNvSpPr/>
          <p:nvPr/>
        </p:nvSpPr>
        <p:spPr>
          <a:xfrm>
            <a:off x="1417320" y="4251960"/>
            <a:ext cx="10057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e696"/>
                </a:solidFill>
                <a:latin typeface="Calibri"/>
              </a:rPr>
              <a:t>Table 3 — near Exact Match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Box 18"/>
          <p:cNvSpPr/>
          <p:nvPr/>
        </p:nvSpPr>
        <p:spPr>
          <a:xfrm>
            <a:off x="1417320" y="4617720"/>
            <a:ext cx="1005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</a:rPr>
              <a:t>All harmful data attack results (p=0.05/0.1/0.2) for both FullFT and SPPFT match the paper exactly.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Rectangle 19"/>
          <p:cNvSpPr/>
          <p:nvPr/>
        </p:nvSpPr>
        <p:spPr>
          <a:xfrm>
            <a:off x="274320" y="5349240"/>
            <a:ext cx="1005120" cy="346680"/>
          </a:xfrm>
          <a:prstGeom prst="rect">
            <a:avLst/>
          </a:prstGeom>
          <a:solidFill>
            <a:srgbClr val="00e6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TextBox 20"/>
          <p:cNvSpPr/>
          <p:nvPr/>
        </p:nvSpPr>
        <p:spPr>
          <a:xfrm>
            <a:off x="274320" y="5367600"/>
            <a:ext cx="1005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MATCH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Box 21"/>
          <p:cNvSpPr/>
          <p:nvPr/>
        </p:nvSpPr>
        <p:spPr>
          <a:xfrm>
            <a:off x="1417320" y="5349240"/>
            <a:ext cx="10057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e696"/>
                </a:solidFill>
                <a:latin typeface="Calibri"/>
              </a:rPr>
              <a:t>Table 2 Rh — Near-Exact Match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Box 22"/>
          <p:cNvSpPr/>
          <p:nvPr/>
        </p:nvSpPr>
        <p:spPr>
          <a:xfrm>
            <a:off x="1417320" y="5715000"/>
            <a:ext cx="1005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</a:rPr>
              <a:t>Harmful rate values across all three attack scenarios differ by at most 0.55%, well within noise.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 1"/>
          <p:cNvSpPr/>
          <p:nvPr/>
        </p:nvSpPr>
        <p:spPr>
          <a:xfrm>
            <a:off x="0" y="822960"/>
            <a:ext cx="12188160" cy="360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0" name="TextBox 2"/>
          <p:cNvSpPr/>
          <p:nvPr/>
        </p:nvSpPr>
        <p:spPr>
          <a:xfrm>
            <a:off x="365760" y="164520"/>
            <a:ext cx="11429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Conclusions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Rectangle 3"/>
          <p:cNvSpPr/>
          <p:nvPr/>
        </p:nvSpPr>
        <p:spPr>
          <a:xfrm>
            <a:off x="274320" y="1005840"/>
            <a:ext cx="54000" cy="776520"/>
          </a:xfrm>
          <a:prstGeom prst="rect">
            <a:avLst/>
          </a:prstGeom>
          <a:solidFill>
            <a:srgbClr val="00e6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2" name="TextBox 4"/>
          <p:cNvSpPr/>
          <p:nvPr/>
        </p:nvSpPr>
        <p:spPr>
          <a:xfrm>
            <a:off x="502920" y="1005840"/>
            <a:ext cx="10972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e696"/>
                </a:solidFill>
                <a:latin typeface="Calibri"/>
              </a:rPr>
              <a:t>✔ </a:t>
            </a:r>
            <a:r>
              <a:rPr b="1" lang="en-US" sz="1500" spc="-1" strike="noStrike">
                <a:solidFill>
                  <a:srgbClr val="00e696"/>
                </a:solidFill>
                <a:latin typeface="Calibri"/>
              </a:rPr>
              <a:t>Existence Verified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Box 5"/>
          <p:cNvSpPr/>
          <p:nvPr/>
        </p:nvSpPr>
        <p:spPr>
          <a:xfrm>
            <a:off x="502920" y="1389960"/>
            <a:ext cx="1097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The cosine-similarity gap confirming safety layers is clearly reproduced for LLaMA-2-7B-Chat.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Rectangle 6"/>
          <p:cNvSpPr/>
          <p:nvPr/>
        </p:nvSpPr>
        <p:spPr>
          <a:xfrm>
            <a:off x="274320" y="2057400"/>
            <a:ext cx="54000" cy="776520"/>
          </a:xfrm>
          <a:prstGeom prst="rect">
            <a:avLst/>
          </a:prstGeom>
          <a:solidFill>
            <a:srgbClr val="00e6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5" name="TextBox 7"/>
          <p:cNvSpPr/>
          <p:nvPr/>
        </p:nvSpPr>
        <p:spPr>
          <a:xfrm>
            <a:off x="502920" y="2057400"/>
            <a:ext cx="10972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e696"/>
                </a:solidFill>
                <a:latin typeface="Calibri"/>
              </a:rPr>
              <a:t>✔ </a:t>
            </a:r>
            <a:r>
              <a:rPr b="1" lang="en-US" sz="1500" spc="-1" strike="noStrike">
                <a:solidFill>
                  <a:srgbClr val="00e696"/>
                </a:solidFill>
                <a:latin typeface="Calibri"/>
              </a:rPr>
              <a:t>Localisation Reproduced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Box 8"/>
          <p:cNvSpPr/>
          <p:nvPr/>
        </p:nvSpPr>
        <p:spPr>
          <a:xfrm>
            <a:off x="502920" y="2441520"/>
            <a:ext cx="109720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Over-rejection analysis successfully localises safety layers. Our peak range [7,14] vs paper's [9,14] — a notable difference warranting further investigation.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Rectangle 9"/>
          <p:cNvSpPr/>
          <p:nvPr/>
        </p:nvSpPr>
        <p:spPr>
          <a:xfrm>
            <a:off x="274320" y="3108960"/>
            <a:ext cx="54000" cy="776520"/>
          </a:xfrm>
          <a:prstGeom prst="rect">
            <a:avLst/>
          </a:prstGeom>
          <a:solidFill>
            <a:srgbClr val="00e6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8" name="TextBox 10"/>
          <p:cNvSpPr/>
          <p:nvPr/>
        </p:nvSpPr>
        <p:spPr>
          <a:xfrm>
            <a:off x="502920" y="3108960"/>
            <a:ext cx="10972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e696"/>
                </a:solidFill>
                <a:latin typeface="Calibri"/>
              </a:rPr>
              <a:t>✔ </a:t>
            </a:r>
            <a:r>
              <a:rPr b="1" lang="en-US" sz="1500" spc="-1" strike="noStrike">
                <a:solidFill>
                  <a:srgbClr val="00e696"/>
                </a:solidFill>
                <a:latin typeface="Calibri"/>
              </a:rPr>
              <a:t>SPPFT Effectiveness Confirmed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Box 11"/>
          <p:cNvSpPr/>
          <p:nvPr/>
        </p:nvSpPr>
        <p:spPr>
          <a:xfrm>
            <a:off x="502920" y="3493080"/>
            <a:ext cx="1097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SPPFT drastically reduces harmful rate vs FullFT in all scenarios (Normal, Implicit, Backdoor, Harmful).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Rectangle 12"/>
          <p:cNvSpPr/>
          <p:nvPr/>
        </p:nvSpPr>
        <p:spPr>
          <a:xfrm>
            <a:off x="274320" y="4160520"/>
            <a:ext cx="54000" cy="776520"/>
          </a:xfrm>
          <a:prstGeom prst="rect">
            <a:avLst/>
          </a:prstGeom>
          <a:solidFill>
            <a:srgbClr val="00e6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1" name="TextBox 13"/>
          <p:cNvSpPr/>
          <p:nvPr/>
        </p:nvSpPr>
        <p:spPr>
          <a:xfrm>
            <a:off x="502920" y="4160520"/>
            <a:ext cx="10972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e696"/>
                </a:solidFill>
                <a:latin typeface="Calibri"/>
              </a:rPr>
              <a:t>✔ </a:t>
            </a:r>
            <a:r>
              <a:rPr b="1" lang="en-US" sz="1500" spc="-1" strike="noStrike">
                <a:solidFill>
                  <a:srgbClr val="00e696"/>
                </a:solidFill>
                <a:latin typeface="Calibri"/>
              </a:rPr>
              <a:t>Table 3 Exact Match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Box 14"/>
          <p:cNvSpPr/>
          <p:nvPr/>
        </p:nvSpPr>
        <p:spPr>
          <a:xfrm>
            <a:off x="502920" y="4544640"/>
            <a:ext cx="1097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Harmful data attack results replicated exactly, validating our experimental pipeline.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Rectangle 15"/>
          <p:cNvSpPr/>
          <p:nvPr/>
        </p:nvSpPr>
        <p:spPr>
          <a:xfrm>
            <a:off x="274320" y="5212080"/>
            <a:ext cx="54000" cy="7765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4" name="TextBox 16"/>
          <p:cNvSpPr/>
          <p:nvPr/>
        </p:nvSpPr>
        <p:spPr>
          <a:xfrm>
            <a:off x="502920" y="5212080"/>
            <a:ext cx="10972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d600"/>
                </a:solidFill>
                <a:latin typeface="Calibri"/>
              </a:rPr>
              <a:t>⚠ </a:t>
            </a:r>
            <a:r>
              <a:rPr b="1" lang="en-US" sz="1500" spc="-1" strike="noStrike">
                <a:solidFill>
                  <a:srgbClr val="ffd600"/>
                </a:solidFill>
                <a:latin typeface="Calibri"/>
              </a:rPr>
              <a:t>Minor Numerical Deviations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Box 17"/>
          <p:cNvSpPr/>
          <p:nvPr/>
        </p:nvSpPr>
        <p:spPr>
          <a:xfrm>
            <a:off x="502920" y="5596200"/>
            <a:ext cx="1097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Harmful score +0.003–0.005 across Table 2; MMLU −0.005 in one case — all within acceptable variance.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Box 18"/>
          <p:cNvSpPr/>
          <p:nvPr/>
        </p:nvSpPr>
        <p:spPr>
          <a:xfrm>
            <a:off x="274320" y="6400800"/>
            <a:ext cx="1142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c8ff"/>
                </a:solidFill>
                <a:latin typeface="Calibri"/>
              </a:rPr>
              <a:t>Overall: Strong replication of paper findings for LLaMA-2-7B-Chat.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2990</TotalTime>
  <Application>LibreOffice/24.2.7.2$Linux_X86_64 LibreOffice_project/420$Build-2</Application>
  <AppVersion>15.0000</AppVersion>
  <Words>1043</Words>
  <Paragraphs>253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2026-05-09T12:32:57Z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9</vt:i4>
  </property>
</Properties>
</file>